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this slide on screen as students walk in. While you're waiting, mention you'll spend a few minutes orienting them to the discipline before getting to the technical content.</a:t>
            </a:r>
          </a:p>
          <a:p/>
          <a:p>
            <a:r>
              <a:t>This deck is designed for ~50 minute lectures. Slides progress one concept per slide; expect to spend 3-5 minutes on each on average, more on calculations.</a:t>
            </a:r>
          </a:p>
          <a:p/>
          <a:p>
            <a:r>
              <a:t>Reading prerequisites for this lecture are in the Pre-Lecture Reader, Chapter 1 ("AI in production"). Confirm students have skimmed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agenda quickly. Highlight the spine: Lectures 1-2 = orientation, Lectures 3-4 = how models actually work, Lectures 5-6 = hardware and software stack, Lectures 7-8 = optimization techniques, Lectures 9-10 = beyond LLMs and beyond one box.</a:t>
            </a:r>
          </a:p>
          <a:p/>
          <a:p>
            <a:r>
              <a:t>Two transitions to call out: Lecture 4 is where the math starts to bite (arithmetic intensity), and Lecture 7 is where you go from understanding inference to optimizing it. Tell students those are the two weeks they should clear their calendars.</a:t>
            </a:r>
          </a:p>
          <a:p/>
          <a:p>
            <a:r>
              <a:t>Mention that problem sets parallel the lectures one-for-one and the midterm covers Lectures 0-4.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1 START. Use this slide as a moment to set tone. The point of today is: inference engineering is a real discipline with a real surface area, and three layers separate the concerns.</a:t>
            </a:r>
          </a:p>
          <a:p/>
          <a:p>
            <a:r>
              <a:t>Optional opening question: "How many of you have used ChatGPT today?" (most). "How many of you can explain what happened on the server side between when you hit enter and when the first word appeared?" (almost none). That's what this course is for.</a:t>
            </a:r>
          </a:p>
          <a:p/>
          <a:p>
            <a:r>
              <a:t>Today is mostly definitions and framing. The pace will pick up next week.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these out one by one. The third one (six runtime techniques) is the one to memorize — they'll come back every week.</a:t>
            </a:r>
          </a:p>
          <a:p/>
          <a:p>
            <a:r>
              <a:t>Note: the order matters. We start with definitions (1, 2), then the conceptual model (3 = three layers, 4 = six techniques), and finally the why-this-matters (5 = infrastructure). If any single student walks out remembering only one thing, it should be the six techniques.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students intuitively think training is harder than inference because it requires GPUs, expensive datasets, careful experimentation. That's true, but it's only half the story.</a:t>
            </a:r>
          </a:p>
          <a:p/>
          <a:p>
            <a:r>
              <a:t>The framing to hammer: training is a capital expense (one-time per model); inference is an operational expense (every request, every day, forever). For a company like OpenAI, well over 90% of their compute spend is on inference, not training.</a:t>
            </a:r>
          </a:p>
          <a:p/>
          <a:p>
            <a:r>
              <a:t>A useful analogy: building a factory vs. running it. Building is expensive, but the bills come from running. Same with models.</a:t>
            </a:r>
          </a:p>
          <a:p/>
          <a:p>
            <a:r>
              <a:t>Discussion prompt: "Why do AI companies have inference engineering teams but not training engineering teams in the same way?" Answer: because every product company runs inference; only a handful train.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three-layer model is the spine of the course. Almost every concept later in the course belongs to exactly one of these three layers.</a:t>
            </a:r>
          </a:p>
          <a:p/>
          <a:p>
            <a:r>
              <a:t>Runtime = one GPU, one model, "make it fast." This is where CUDA kernels, FlashAttention, quantization, speculation live. Lectures 3-7.</a:t>
            </a:r>
          </a:p>
          <a:p>
            <a:r>
              <a:t>Infrastructure = many GPUs, many regions, "make it scale." This is autoscaling, load balancing, multi-cloud. Lectures 8 and 10.</a:t>
            </a:r>
          </a:p>
          <a:p>
            <a:r>
              <a:t>Tooling = the developer abstraction. This is which inference engine you pick, which platform you deploy on. Lectures 6 and 10.</a:t>
            </a:r>
          </a:p>
          <a:p/>
          <a:p>
            <a:r>
              <a:t>Common mistake: thinking only runtime matters because it's the most technically deep. In practice, infrastructure problems sink more products than runtime ones.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most important slide in the entire course. The six techniques recur in every following lecture. If students remember nothing else from today, they should remember this list and what each one does.</a:t>
            </a:r>
          </a:p>
          <a:p/>
          <a:p>
            <a:r>
              <a:t>Walk through each one with a one-sentence motivation:</a:t>
            </a:r>
          </a:p>
          <a:p>
            <a:r>
              <a:t>- Batching: GPUs are great at parallel work; serve many requests at once.</a:t>
            </a:r>
          </a:p>
          <a:p>
            <a:r>
              <a:t>- Caching: don't redo the same prefill twice; reuse the KV cache.</a:t>
            </a:r>
          </a:p>
          <a:p>
            <a:r>
              <a:t>- Quantization: lower precision = more FLOPS, less memory traffic.</a:t>
            </a:r>
          </a:p>
          <a:p>
            <a:r>
              <a:t>- Speculation: generate cheap draft tokens; validate with the real model.</a:t>
            </a:r>
          </a:p>
          <a:p>
            <a:r>
              <a:t>- Parallelism: when one GPU isn't enough, use many.</a:t>
            </a:r>
          </a:p>
          <a:p>
            <a:r>
              <a:t>- Disaggregation: prefill and decode have different needs; separate them.</a:t>
            </a:r>
          </a:p>
          <a:p/>
          <a:p>
            <a:r>
              <a:t>The footer (these generalize beyond LLMs) is a tease for Lecture 9.</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point of this slide: a single replica is finite. Even a maxed-out B200 will eventually be overwhelmed by traffic. Solving that is a systems problem, not a CUDA problem.</a:t>
            </a:r>
          </a:p>
          <a:p/>
          <a:p>
            <a:r>
              <a:t>The three phases on the slide map roughly to startup-vs-mid-stage-vs-enterprise concerns:</a:t>
            </a:r>
          </a:p>
          <a:p>
            <a:r>
              <a:t>- Small scale: autoscaling. Most teams stop here.</a:t>
            </a:r>
          </a:p>
          <a:p>
            <a:r>
              <a:t>- A few hundred GPUs: GPU capacity becomes the actual constraint. You can't just "buy more" — vendors are sold out.</a:t>
            </a:r>
          </a:p>
          <a:p>
            <a:r>
              <a:t>- Largest scale: silos kill you. Multi-cloud is mandatory.</a:t>
            </a:r>
          </a:p>
          <a:p/>
          <a:p>
            <a:r>
              <a:t>Cite the Llama 3 failure number from the book if you want a hard data point: 419 failures in 54 days on 16K GPUs = 1 per 50K GPU-hours. Failure is the default at scale.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The 30-second version of today: inference is the half of AI that lives in production. It splits into three layers. Six runtime techniques are the verbs of the rest of the course.</a:t>
            </a:r>
          </a:p>
          <a:p/>
          <a:p>
            <a:r>
              <a:t>End-of-lecture question: "Of the six runtime techniques, which two do you think apply to image generation? Which three apply to embedding models?" Don't expect right answers; we cover this in Lecture 9. The point is to plant the question.</a:t>
            </a:r>
          </a:p>
          <a:p/>
          <a:p>
            <a:r>
              <a:t>For next time: pre-lecture reader chapter 2 (Latency, probability, percentiles). Probably the most math-heavy reader of the course.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2 START. Today is metrics — how to measure what you're optimizing. Without these definitions, the rest of the course is unfalsifiable.</a:t>
            </a:r>
          </a:p>
          <a:p/>
          <a:p>
            <a:r>
              <a:t>The lecture has two halves. First half (slides 11-15): qualitative — what kind of app, what kind of model. Second half (16-19): quantitative — latency formulas, percentiles, end-to-end vs. inference time.</a:t>
            </a:r>
          </a:p>
          <a:p/>
          <a:p>
            <a:r>
              <a:t>If you have time, demo a latency dashboard at the end. Showing P50 vs P99 on real traffic drives the point home in a way slides can't.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read-through. Emphasize the latency-formula one (item 4) — that's a calculation we will use in every problem 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shared-vs-dedicated dichotomy is something every team faces. Frame it as a maturity arc:</a:t>
            </a:r>
          </a:p>
          <a:p>
            <a:r>
              <a:t>1. Early stage / proof-of-concept: shared APIs. Pay per token.</a:t>
            </a:r>
          </a:p>
          <a:p>
            <a:r>
              <a:t>2. Product-market fit, growing usage: still shared, but bill is becoming significant.</a:t>
            </a:r>
          </a:p>
          <a:p>
            <a:r>
              <a:t>3. Predictable usage, clear quality bar: switch to dedicated.</a:t>
            </a:r>
          </a:p>
          <a:p/>
          <a:p>
            <a:r>
              <a:t>The switch is rarely a clean victory. You trade per-token cost for per-GPU-hour cost (sometimes higher in absolute dollars), but you gain control over latency, model choice, and uptime.</a:t>
            </a:r>
          </a:p>
          <a:p/>
          <a:p>
            <a:r>
              <a:t>Class discussion: "Imagine you're a YC startup at $50K/month on OpenAI's API. Is it time to switch?" Real answer: "It depends on whether your scale will keep growing and whether you need a custom model." Don't conflate cost with the only consideration.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reference. Walk through 2-3 examples per row.</a:t>
            </a:r>
          </a:p>
          <a:p/>
          <a:p>
            <a:r>
              <a:t>Online → latency = users are waiting. Customer support, code completion, voice. Halving latency makes the product feel better.</a:t>
            </a:r>
          </a:p>
          <a:p/>
          <a:p>
            <a:r>
              <a:t>Offline → throughput = no human in loop. Catalog transcription, document embeddings, batch moderation. Halving throughput means halving GPU bill.</a:t>
            </a:r>
          </a:p>
          <a:p/>
          <a:p>
            <a:r>
              <a:t>Common confusion: "isn't lower latency always better?" Answer: yes for the user, but optimizing latency usually costs throughput. You can't have both.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Single most important slide for model selection. The biggest decision is NOT engine, NOT quantization — it's which model to use at all.</a:t>
            </a:r>
          </a:p>
          <a:p/>
          <a:p>
            <a:r>
              <a:t>The "smallest model that passes your evals" framing matters because students often overshoot. They reach for frontier 671B-param models when a 7B fine-tune would suffice for the task.</a:t>
            </a:r>
          </a:p>
          <a:p/>
          <a:p>
            <a:r>
              <a:t>Counter-example to drive the point: a fine-tuned Llama 3 8B for SQL generation will outperform GPT-5 zero-shot on schema-specific queries. Smaller, faster, cheaper, and better.</a:t>
            </a:r>
          </a:p>
          <a:p/>
          <a:p>
            <a:r>
              <a:t>The "popular architectures" advice is practical: vLLM and SGLang have day-zero integrations for Llama, Qwen, DeepSeek. If you pick a niche architecture, you'll be writing custom kernels.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adapt a pretrained model, but in different ways:</a:t>
            </a:r>
          </a:p>
          <a:p/>
          <a:p>
            <a:r>
              <a:t>Fine-tuning = same model, new weights. Targets a domain (text-to-SQL, medical chat). Best when you have a good dataset and a narrow scope.</a:t>
            </a:r>
          </a:p>
          <a:p/>
          <a:p>
            <a:r>
              <a:t>Distillation = smaller model, mimics teacher's probability distributions. Targets size reduction. Best when only a huge model exists and you need cheap inference.</a:t>
            </a:r>
          </a:p>
          <a:p/>
          <a:p>
            <a:r>
              <a:t>DeepSeek-R1's 671B-param release was distilled onto Llama 3 8B and Qwen 2.5 7B because nobody wanted to serve a 671B model. Those distilled versions still demonstrate strong reasoning despite being a fraction of the size.</a:t>
            </a:r>
          </a:p>
          <a:p/>
          <a:p>
            <a:r>
              <a:t>Common confusion: students think LoRAs are a third method. LoRA is actually a fine-tuning *technique* — low-rank adapter weights. We mention it in Lecture 7's caching discussion.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latency-metrics formula slide. Step through it slowly. Math will appear here.</a:t>
            </a:r>
          </a:p>
          <a:p/>
          <a:p>
            <a:r>
              <a:t>TTFT vs. TPS is the central duality of LLM inference. They map to prefill (compute-bound) and decode (memory-bandwidth-bound) — we cover this in Lecture 3 and again in Lecture 4. For now: TTFT is "how snappy did the app feel?" TPS is "how fast does it stream after that?"</a:t>
            </a:r>
          </a:p>
          <a:p/>
          <a:p>
            <a:r>
              <a:t>ITL = inter-token latency = milliseconds between tokens. Convert via TPS = 1000 / ITL. This is the most common calculation on problem sets.</a:t>
            </a:r>
          </a:p>
          <a:p/>
          <a:p>
            <a:r>
              <a:t>Do an example aloud: "If ITL is 10 ms, what's TPS? 100. If TPS is 80, what's ITL? 12.5 ms."</a:t>
            </a:r>
          </a:p>
          <a:p/>
          <a:p>
            <a:r>
              <a:t>Distinguish *perceived* TPS (one user's experience) from *total* TPS (whole service throughput). These are constantly confused in industry blog posts.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percentile table is the heart of "how to read a latency dashboard." Most students have seen percentiles in stats class; few have used them in performance contexts.</a:t>
            </a:r>
          </a:p>
          <a:p/>
          <a:p>
            <a:r>
              <a:t>The footer is the important takeaway: don't average. The mean is misleading because latency is right-skewed. P99 is what your worst customers feel.</a:t>
            </a:r>
          </a:p>
          <a:p/>
          <a:p>
            <a:r>
              <a:t>War-story moment: tell about a time you (or anyone you know) chased a P50 improvement that was indistinguishable to users while P99 stayed bad. The team that prioritizes P99 over P50 ships a more reliable product.</a:t>
            </a:r>
          </a:p>
          <a:p/>
          <a:p>
            <a:r>
              <a:t>If interactive, ask: "Why P99 and not P50? What is gained?" Answer: knowing what 1-in-100 users see. At scale, that's a lot of users.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Inference time vs end-to-end time — the distinction that lets you debug latency problems.</a:t>
            </a:r>
          </a:p>
          <a:p/>
          <a:p>
            <a:r>
              <a:t>Inference time = on-GPU time only. Measured server-side. What kernel optimizations affect.</a:t>
            </a:r>
          </a:p>
          <a:p/>
          <a:p>
            <a:r>
              <a:t>End-to-end time = what the user experiences. Includes network, queueing, client, TLS handshake.</a:t>
            </a:r>
          </a:p>
          <a:p/>
          <a:p>
            <a:r>
              <a:t>The diagnostic heuristic is gold: if your inference time is fast but end-to-end is slow, stop optimizing kernels and look at infrastructure. We come back to this in Lecture 10.</a:t>
            </a:r>
          </a:p>
          <a:p/>
          <a:p>
            <a:r>
              <a:t>A concrete example: a team measures 80 ms TTFT on the server but 400 ms TTFT from the user's browser. That 320 ms gap is network, TLS, load balancer queueing. None of which CUDA can fix.</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2. End-of-lecture exercise to assign as homework: Problem Set 2 in the problem-set packet. Especially the latency-conversion problems.</a:t>
            </a:r>
          </a:p>
          <a:p/>
          <a:p>
            <a:r>
              <a:t>For next time: pre-lecture reader chapter 3 (Vectors, matrices, neural networks). This is the heaviest reader of the course. Students who haven't seen matmul in a while should set aside real time.</a:t>
            </a:r>
          </a:p>
          <a:p/>
          <a:p>
            <a:r>
              <a:t>Bridge to next week: Now that you know what to measure, let's look at what we're actually measuring.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3 START. This is where we open up the model and look inside. The next 3 lectures are technical-dense.</a:t>
            </a:r>
          </a:p>
          <a:p/>
          <a:p>
            <a:r>
              <a:t>Today: neural network basics → LLM mechanics → attention. Two big concepts to land:</a:t>
            </a:r>
          </a:p>
          <a:p>
            <a:r>
              <a:t>1. LLM inference splits into prefill and decode, with very different bottleneck profiles.</a:t>
            </a:r>
          </a:p>
          <a:p>
            <a:r>
              <a:t>2. Attention is what makes transformers work and is the single most important operation to understand.</a:t>
            </a:r>
          </a:p>
          <a:p/>
          <a:p>
            <a:r>
              <a:t>If students are coming in cold (haven't read the prerequisite chapter), spend an extra few minutes on slide 22 (linear layer).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read.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Linear layer = the fundamental building block. y = xW + b.</a:t>
            </a:r>
          </a:p>
          <a:p/>
          <a:p>
            <a:r>
              <a:t>Walk through with a small example. Suppose x is a 3-dim vector [1, 2, 3] and W is a 3x2 matrix. The output y is a 2-dim vector — each output dimension is a dot product of x with one column of W.</a:t>
            </a:r>
          </a:p>
          <a:p/>
          <a:p>
            <a:r>
              <a:t>Why we need activation functions: without them, two linear layers collapse into one (W3 = W1 * W2). ReLU(x) = max(0, x) introduces the nonlinearity that makes deep networks more expressive than shallow ones.</a:t>
            </a:r>
          </a:p>
          <a:p/>
          <a:p>
            <a:r>
              <a:t>If time permits, draw the ReLU graph on the board. It's the simplest activation and the most useful intuitive picture.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prefill/decode split is the single most important thing students need to know about LLM inference. Drill it in.</a:t>
            </a:r>
          </a:p>
          <a:p/>
          <a:p>
            <a:r>
              <a:t>Prefill: takes the input sequence (say 1000 tokens), processes them all in parallel, builds the KV cache. Big matmuls, lots of math, GPU compute saturated → compute-bound. Determines TTFT.</a:t>
            </a:r>
          </a:p>
          <a:p/>
          <a:p>
            <a:r>
              <a:t>Decode: one token at a time, one forward pass per token, must load all the weights each pass. Vector-matrix multiplications, lots of memory traffic but not much computation per byte → memory-bandwidth-bound. Determines TPS.</a:t>
            </a:r>
          </a:p>
          <a:p/>
          <a:p>
            <a:r>
              <a:t>This duality drives:</a:t>
            </a:r>
          </a:p>
          <a:p>
            <a:r>
              <a:t>- Why quantization helps decode (less memory traffic).</a:t>
            </a:r>
          </a:p>
          <a:p>
            <a:r>
              <a:t>- Why batching helps both (amortizes weight loading across requests).</a:t>
            </a:r>
          </a:p>
          <a:p>
            <a:r>
              <a:t>- Why disaggregation exists (different bottlenecks → different optimal hardware).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attention formula. Write it on the board if you can, then walk through Q, K, V.</a:t>
            </a:r>
          </a:p>
          <a:p/>
          <a:p>
            <a:r>
              <a:t>The intuition: each token (Q) looks at every other token (via Q·K^T) and decides how much to pay attention to each one. Softmax normalizes the dot products into probabilities. Then it weighs the V vectors by those probabilities.</a:t>
            </a:r>
          </a:p>
          <a:p/>
          <a:p>
            <a:r>
              <a:t>Multi-head attention: do this 8 or 16 times in parallel with different learned weights. Each head can specialize in a different relationship (syntactic agreement, co-reference, etc.).</a:t>
            </a:r>
          </a:p>
          <a:p/>
          <a:p>
            <a:r>
              <a:t>Self-attention = Q, K, V all from the same sequence. Cross-attention = Q from one, K/V from another (used in image gen for text conditioning).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KV cache: easy to underestimate how central this is. Without it, every new generated token would have to recompute attention from scratch. With it, you just append the latest K and V and reuse the old ones.</a:t>
            </a:r>
          </a:p>
          <a:p/>
          <a:p>
            <a:r>
              <a:t>This turns attention from O(N²) to O(N) per generated token. Without the KV cache, even basic chat would be unusable.</a:t>
            </a:r>
          </a:p>
          <a:p/>
          <a:p>
            <a:r>
              <a:t>Cost: VRAM. For a 70B model with 4K context, the KV cache can be tens of GB. This is why long-context inference is hard, why we quantize KV cache, why we cache offload to CPU RAM. All in Lecture 8.</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MoE = adds sparsity. A 235B model has 235B params, but only 22B activate for any one token.</a:t>
            </a:r>
          </a:p>
          <a:p/>
          <a:p>
            <a:r>
              <a:t>Walk through the example. Qwen3-235B-A22B: 128 experts per layer, router picks top 8. Across 94 layers, each token traverses a different path through the experts.</a:t>
            </a:r>
          </a:p>
          <a:p/>
          <a:p>
            <a:r>
              <a:t>Critical caveat for production: in a batch of N different requests, each request activates different experts. By N=10 or so, almost every expert is active. So the memory savings from MoE only fully materialize with very low batch sizes — OR with Expert Parallelism that splits experts across GPUs (Lecture 8).</a:t>
            </a:r>
          </a:p>
          <a:p/>
          <a:p>
            <a:r>
              <a:t>Why MoE is popular: lets you scale model capacity without paying full inference cost on every token. DeepSeek-V3 (671B) is MoE for this reason.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3.</a:t>
            </a:r>
          </a:p>
          <a:p/>
          <a:p>
            <a:r>
              <a:t>Send-off: today was the model. Next week is the math of bottlenecks — when is a kernel compute-bound vs memory-bound, and how do we tell quantitatively?</a:t>
            </a:r>
          </a:p>
          <a:p/>
          <a:p>
            <a:r>
              <a:t>Pre-lecture reader 4 (Complexity, memory, attention math) is required reading.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4 START. Today is the most quantitative lecture. We compute arithmetic intensity for standard attention and verify that decode is memory-bound on H100.</a:t>
            </a:r>
          </a:p>
          <a:p/>
          <a:p>
            <a:r>
              <a:t>This is also the lecture where students realize all the words from Lecture 3 (compute-bound, memory-bound) have specific numerical meanings.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read. The fourth objective (worked example) is what most students will struggle with — set the expectation that we'll do it on the board.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Image generation pipeline. Three components: text encoder, denoiser, VAE. The key number to remember: 30-50 denoising steps × 2 forward passes per step (classifier-free guidance) = ~100 forward passes per image.</a:t>
            </a:r>
          </a:p>
          <a:p/>
          <a:p>
            <a:r>
              <a:t>That ~100 number explains a lot. It's why image generation is so much slower than a single LLM forward pass even though the models are smaller. It's also why "few-step" models (8 steps or fewer) are so attractive — they trade quality for ~10× speedup.</a:t>
            </a:r>
          </a:p>
          <a:p/>
          <a:p>
            <a:r>
              <a:t>Tease: we'll come back to image gen in Lecture 9 with the "one weird trick" of skipping guidance late in the schedule.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bottlenecks. Cardinal rule of inference engineering: know which bottleneck you're hitting before optimizing.</a:t>
            </a:r>
          </a:p>
          <a:p/>
          <a:p>
            <a:r>
              <a:t>Memorize:</a:t>
            </a:r>
          </a:p>
          <a:p>
            <a:r>
              <a:t>- LLM prefill = compute-bound.</a:t>
            </a:r>
          </a:p>
          <a:p>
            <a:r>
              <a:t>- LLM decode = memory-bound.</a:t>
            </a:r>
          </a:p>
          <a:p>
            <a:r>
              <a:t>- Image / video gen = compute-bound.</a:t>
            </a:r>
          </a:p>
          <a:p/>
          <a:p>
            <a:r>
              <a:t>A surprising consequence: the same model on the same GPU can be compute-bound during one phase and memory-bound the next. This is why disaggregation (Lecture 8) helps — each engine can be sized for its bottleneck.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math gets real. Two formulas:</a:t>
            </a:r>
          </a:p>
          <a:p/>
          <a:p>
            <a:r>
              <a:t>1. Arithmetic intensity = ops per byte of memory traffic, for a SPECIFIC kernel.</a:t>
            </a:r>
          </a:p>
          <a:p>
            <a:r>
              <a:t>2. Ops:byte ratio = GPU's peak compute / memory bandwidth, intrinsic to the HARDWARE.</a:t>
            </a:r>
          </a:p>
          <a:p/>
          <a:p>
            <a:r>
              <a:t>If kernel's intensity &gt; GPU's ops:byte → compute-bound (math is the limit). If less → memory-bound (memory is the limit).</a:t>
            </a:r>
          </a:p>
          <a:p/>
          <a:p>
            <a:r>
              <a:t>For H100 at FP16: 989 TFLOPS / 3.35 TB/s ≈ 295 ops/byte. Memorize this number; it'll come up in problem sets.</a:t>
            </a:r>
          </a:p>
          <a:p/>
          <a:p>
            <a:r>
              <a:t>Show on the board: 989 × 10^12 / 3.35 × 10^12 ≈ 295. Walk through the unit cancellation.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worked example slide. The most important calculation in the course.</a:t>
            </a:r>
          </a:p>
          <a:p/>
          <a:p>
            <a:r>
              <a:t>For N=4096, d=128, FP16: standard attention has 8N²+8Nd ≈ 540 MiB memory traffic and 4N²d+3N² ≈ 35 GFLOPS compute → intensity ≈ 62 ops/byte.</a:t>
            </a:r>
          </a:p>
          <a:p/>
          <a:p>
            <a:r>
              <a:t>62 &lt; 295. Therefore standard decode attention is firmly memory-bound on an H100.</a:t>
            </a:r>
          </a:p>
          <a:p/>
          <a:p>
            <a:r>
              <a:t>Two implications:</a:t>
            </a:r>
          </a:p>
          <a:p>
            <a:r>
              <a:t>1. FlashAttention's gains come mostly from reducing memory traffic (not compute).</a:t>
            </a:r>
          </a:p>
          <a:p>
            <a:r>
              <a:t>2. Bigger memory bandwidth (H200, B200) helps decode more than more FLOPS does.</a:t>
            </a:r>
          </a:p>
          <a:p/>
          <a:p>
            <a:r>
              <a:t>If you can, derive 8N² + 8Nd on the board. Show how each step in the attention algorithm (compute S, write S, read S, compute P...) contributes to the byte count.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strategies for attention optimization.</a:t>
            </a:r>
          </a:p>
          <a:p/>
          <a:p>
            <a:r>
              <a:t>Implementation: FlashAttention, PagedAttention. Lossless — same math, fewer HBM round-trips. Use these always.</a:t>
            </a:r>
          </a:p>
          <a:p/>
          <a:p>
            <a:r>
              <a:t>Algorithms: sliding-window attention (each token attends to only the last w tokens). Lossy — changes the math, requires training support. Use only when needed (very long context).</a:t>
            </a:r>
          </a:p>
          <a:p/>
          <a:p>
            <a:r>
              <a:t>If asked "should I use FlashAttention 2 or 3 or 4?": FA-3 is Hopper-tuned, FA-4 is Blackwell-tuned. Pick the version matching your GPU. They're not backward-compatible because the kernels are hand-fused for specific hardware.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4. End of the math-heavy section.</a:t>
            </a:r>
          </a:p>
          <a:p/>
          <a:p>
            <a:r>
              <a:t>Pre-lecture reader 5 (Computer architecture primer) covers CPU/GPU and memory hierarchy. Lighter reading than this week.</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5 START. Today is hardware. We've used GPU specs (3.35 TB/s, 989 TFLOPS, etc.) without explaining what makes them what they are. Today we open the box.</a:t>
            </a:r>
          </a:p>
          <a:p/>
          <a:p>
            <a:r>
              <a:t>Tone: this lecture is less abstract than the last two. The goal is fluency with hardware vocabulary — when you read a GPU spec sheet, you know what each number means and why it matters.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read. Item 5 is increasingly relevant — alternatives like AMD MI350 and Google TPU are real options today.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GPU compute breakdown. Three kinds of cores:</a:t>
            </a:r>
          </a:p>
          <a:p>
            <a:r>
              <a:t>- CUDA cores: scalar arithmetic (the general-purpose workhorse).</a:t>
            </a:r>
          </a:p>
          <a:p>
            <a:r>
              <a:t>- Tensor cores: matrix multiply-accumulate (MMA). For inference, these are THE important ones.</a:t>
            </a:r>
          </a:p>
          <a:p>
            <a:r>
              <a:t>- Special Function Units: sine, cosine, log, exp. Used in softmax.</a:t>
            </a:r>
          </a:p>
          <a:p/>
          <a:p>
            <a:r>
              <a:t>Modern GPUs are dominated by Tensor cores in terms of FLOPS. An H100 has 528 Tensor cores. They are why GPUs are 10-100× faster than CPUs for matmul.</a:t>
            </a:r>
          </a:p>
          <a:p/>
          <a:p>
            <a:r>
              <a:t>FLOPS roughly doubles with each halving of precision. So FP8 has 2× the FLOPS of FP16, FP4 has 2× the FLOPS of FP8. This is the foundation of the quantization wins we cover in Lecture 7.</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Memory hierarchy. Drill the order: HBM (off-chip, GB) → L2 (on-chip, MB) → L1 (per-SM, KB) → registers (per-core, bytes).</a:t>
            </a:r>
          </a:p>
          <a:p/>
          <a:p>
            <a:r>
              <a:t>Each tier is smaller but faster. HBM bandwidth is ~3.35 TB/s on H100; L1 is roughly an order of magnitude faster.</a:t>
            </a:r>
          </a:p>
          <a:p/>
          <a:p>
            <a:r>
              <a:t>VRAM size limits what model you can serve. H100 = 80 GB. A 70B FP8 model = 70 GB of weights + needs ~50% headroom for KV cache → you need an H200 (141 GB) or quantize to FP4.</a:t>
            </a:r>
          </a:p>
          <a:p/>
          <a:p>
            <a:r>
              <a:t>Bandwidth is the bottleneck for LLM decode. This is why H200 (4.8 TB/s) beats H100 for decode despite same FLOPS.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NVIDIA generations. Walk through:</a:t>
            </a:r>
          </a:p>
          <a:p>
            <a:r>
              <a:t>- Ampere (A100): legacy. Don't deploy new workloads on these.</a:t>
            </a:r>
          </a:p>
          <a:p>
            <a:r>
              <a:t>- Lovelace (L4, L40): graphics-oriented. Good for embedding-size models.</a:t>
            </a:r>
          </a:p>
          <a:p>
            <a:r>
              <a:t>- Hopper (H100, H200): the production workhorse today. Mature kernel ecosystem.</a:t>
            </a:r>
          </a:p>
          <a:p>
            <a:r>
              <a:t>- Blackwell (B100, B200, B300): the new gold standard. FP4 support, MXFP8, NVFP4.</a:t>
            </a:r>
          </a:p>
          <a:p>
            <a:r>
              <a:t>- Rubin: 2026. HBM4. The new CPX chip is dedicated to compute-bound prefill workloads.</a:t>
            </a:r>
          </a:p>
          <a:p/>
          <a:p>
            <a:r>
              <a:t>The Lovelace caveat: no NVLink. So you can't scale Lovelace cards for parallelism. L4 is good for solo small models; L40 is rarely the right choice.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Datacenter GPU specs. Memorize H100 and B200 by heart:</a:t>
            </a:r>
          </a:p>
          <a:p>
            <a:r>
              <a:t>- H100: 80 GB / 3.35 TB/s / ~1,979 TFLOPS FP8.</a:t>
            </a:r>
          </a:p>
          <a:p>
            <a:r>
              <a:t>- B200: 192 GB / ~8 TB/s / ~5 PFLOPS FP8.</a:t>
            </a:r>
          </a:p>
          <a:p/>
          <a:p>
            <a:r>
              <a:t>H200 is the H100 with more memory and bandwidth: 141 GB / 4.8 TB/s / same FLOPS. Useful for memory-bound workloads (decode).</a:t>
            </a:r>
          </a:p>
          <a:p/>
          <a:p>
            <a:r>
              <a:t>B200 is roughly 2-3× the compute and bandwidth of H100. For most production workloads, this is the platform you should target if you're starting fresh.</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Interconnect speed hierarchy. Critical for Lecture 8's parallelism discussion.</a:t>
            </a:r>
          </a:p>
          <a:p/>
          <a:p>
            <a:r>
              <a:t>Within a node: NVLink (Blackwell: 1,800 GB/s, Hopper: 900 GB/s). Fast enough that Tensor Parallelism works.</a:t>
            </a:r>
          </a:p>
          <a:p/>
          <a:p>
            <a:r>
              <a:t>NVSwitch: all-to-all comms on top of NVLink. Lets all 8 GPUs in a node coordinate.</a:t>
            </a:r>
          </a:p>
          <a:p/>
          <a:p>
            <a:r>
              <a:t>Between nodes: InfiniBand at ~400 Gb/s. Drastically slower than NVLink. Tensor Parallelism breaks down here — you need Expert or Pipeline Parallelism.</a:t>
            </a:r>
          </a:p>
          <a:p/>
          <a:p>
            <a:r>
              <a:t>Ethernet: even slower. Generic networking, not used for fast intra-cluster.</a:t>
            </a:r>
          </a:p>
          <a:p/>
          <a:p>
            <a:r>
              <a:t>Frame this slide as: "Why parallelism strategy depends on hardware topology." The fact that InfiniBand is 30-50× slower than NVLink is why a lot of clever decisions in Lecture 8 exist.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MIG and alternative accelerators.</a:t>
            </a:r>
          </a:p>
          <a:p/>
          <a:p>
            <a:r>
              <a:t>MIG = Multi-Instance GPU. Splits one H100 / H200 / B200 into up to 7 compute slices and 8 memory slices. Useful for serving small models (a 3B TTS model would waste a full H100).</a:t>
            </a:r>
          </a:p>
          <a:p/>
          <a:p>
            <a:r>
              <a:t>Alternative accelerators are real but face three challenges: software (no CUDA), manufacturing (extreme complexity), distribution (capacity). AMD MI350 is the most credible competitor today; Google TPU is great if you're on GCP; Groq is intriguing for batch=1 latency. Mention 1-2 examples per audience interest.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5. The big takeaway: hardware is part of the engineering surface area, not a black box.</a:t>
            </a:r>
          </a:p>
          <a:p/>
          <a:p>
            <a:r>
              <a:t>Bridge to next week: now we've covered hardware and the model, let's stack the software in between. Pre-lecture reader 6 covers the software stack.</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6 START. The software stack — CUDA up to NVIDIA Dynamo.</a:t>
            </a:r>
          </a:p>
          <a:p/>
          <a:p>
            <a:r>
              <a:t>Today's goal: when a student reads about a new inference tool, they can place it in the stack and reason about its purpose. The vocabulary is dense, but the layering principle makes it manageable.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through.</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CUDA in one slide. Four pieces:</a:t>
            </a:r>
          </a:p>
          <a:p>
            <a:r>
              <a:t>- Kernel: function running on GPU in parallel.</a:t>
            </a:r>
          </a:p>
          <a:p>
            <a:r>
              <a:t>- Graph: DAG of kernels for repeated workflows.</a:t>
            </a:r>
          </a:p>
          <a:p>
            <a:r>
              <a:t>- Driver: hardware interface.</a:t>
            </a:r>
          </a:p>
          <a:p>
            <a:r>
              <a:t>- Runtime: developer-facing API.</a:t>
            </a:r>
          </a:p>
          <a:p/>
          <a:p>
            <a:r>
              <a:t>Libraries on top of CUDA do most of the heavy lifting:</a:t>
            </a:r>
          </a:p>
          <a:p>
            <a:r>
              <a:t>- cuBLAS = linear algebra.</a:t>
            </a:r>
          </a:p>
          <a:p>
            <a:r>
              <a:t>- cuDNN = NN primitives.</a:t>
            </a:r>
          </a:p>
          <a:p>
            <a:r>
              <a:t>- CUTLASS = building blocks for hand-written kernels.</a:t>
            </a:r>
          </a:p>
          <a:p>
            <a:r>
              <a:t>- FlashInfer = LLM-specific kernels.</a:t>
            </a:r>
          </a:p>
          <a:p/>
          <a:p>
            <a:r>
              <a:t>Most ML code never directly writes CUDA. PyTorch and inference engines wrap these libraries.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Kernel fusion. Critical concept.</a:t>
            </a:r>
          </a:p>
          <a:p/>
          <a:p>
            <a:r>
              <a:t>Two kernels back-to-back means data writes to HBM and then reads from HBM in between. That round trip is wasted bandwidth.</a:t>
            </a:r>
          </a:p>
          <a:p/>
          <a:p>
            <a:r>
              <a:t>Fusion: combine into one kernel that keeps intermediate values in registers. No HBM round trip.</a:t>
            </a:r>
          </a:p>
          <a:p/>
          <a:p>
            <a:r>
              <a:t>In decode (memory-bound), every saved HBM trip directly improves TPS. This is why FlashAttention's fused implementation is so much faster than vanilla attention.</a:t>
            </a:r>
          </a:p>
          <a:p/>
          <a:p>
            <a:r>
              <a:t>torch.compile does automatic fusion. Custom kernels (FlashAttention) hand-fuse for specific GPUs.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engines. Frame as a tradeoff between ease of use and performance.</a:t>
            </a:r>
          </a:p>
          <a:p/>
          <a:p>
            <a:r>
              <a:t>vLLM: broadest hardware, broadest model support, easiest to stand up. Default choice.</a:t>
            </a:r>
          </a:p>
          <a:p>
            <a:r>
              <a:t>SGLang: strong for MoE, Chinese models, image/video gen. Flexible frontend.</a:t>
            </a:r>
          </a:p>
          <a:p>
            <a:r>
              <a:t>TensorRT-LLM: best perf on Hopper/Blackwell, hardest to use. Native NVFP4 support.</a:t>
            </a:r>
          </a:p>
          <a:p/>
          <a:p>
            <a:r>
              <a:t>All three support continuous batching, KV caching, quantization, speculation, parallelism, disaggregation out of the box.</a:t>
            </a:r>
          </a:p>
          <a:p/>
          <a:p>
            <a:r>
              <a:t>Common question: "When should I write my own engine?" Answer: almost never. These three engines cover 95% of production use cases.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to pick which engine. Use the rules of thumb on the slide.</a:t>
            </a:r>
          </a:p>
          <a:p/>
          <a:p>
            <a:r>
              <a:t>NVIDIA Dynamo sits ABOVE the engines — it orchestrates many replicas. Don't use it unless you have very large model + very large traffic. The complexity isn't worth it for smaller deployments.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Benchmarking and profiling. Two different operations.</a:t>
            </a:r>
          </a:p>
          <a:p/>
          <a:p>
            <a:r>
              <a:t>Benchmarking: measures WHAT. Run varied traffic, observe latency and throughput.</a:t>
            </a:r>
          </a:p>
          <a:p/>
          <a:p>
            <a:r>
              <a:t>Profiling: measures WHY. Drills into per-kernel time, memory usage.</a:t>
            </a:r>
          </a:p>
          <a:p/>
          <a:p>
            <a:r>
              <a:t>Tips:</a:t>
            </a:r>
          </a:p>
          <a:p>
            <a:r>
              <a:t>- Use real traffic (shadow production if possible).</a:t>
            </a:r>
          </a:p>
          <a:p>
            <a:r>
              <a:t>- Establish a baseline before optimizing.</a:t>
            </a:r>
          </a:p>
          <a:p>
            <a:r>
              <a:t>- Change ONE variable at a time.</a:t>
            </a:r>
          </a:p>
          <a:p>
            <a:r>
              <a:t>- Some optimizations interact (speculation + large batch sizes fight).</a:t>
            </a:r>
          </a:p>
          <a:p/>
          <a:p>
            <a:r>
              <a:t>Tooling: SGLang Genai-bench, NVIDIA GenAI-Perf, Locust, PyTorch Profiler.</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6. We've covered the entire stack from CUDA up. Now we move into the techniques themselves.</a:t>
            </a:r>
          </a:p>
          <a:p/>
          <a:p>
            <a:r>
              <a:t>Pre-lecture reader 7 (Numerical precision and floating point) — required because quantization is a precision question.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7 START. We've reached the optimization techniques themselves. Today is quantization and speculative decoding.</a:t>
            </a:r>
          </a:p>
          <a:p/>
          <a:p>
            <a:r>
              <a:t>These are the two most-discussed optimization techniques in the literature. Almost every production deployment uses both.</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through. The first objective (compare formats) is essential; we'll spend time on the table.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Quantization helps both bottlenecks simultaneously, which is rare.</a:t>
            </a:r>
          </a:p>
          <a:p/>
          <a:p>
            <a:r>
              <a:t>Prefill (compute-bound): FP8 Tensor Cores deliver 2× the FLOPS of FP16. Direct win.</a:t>
            </a:r>
          </a:p>
          <a:p/>
          <a:p>
            <a:r>
              <a:t>Decode (memory-bound): half the bytes per value means half the memory traffic per token. Effectively doubles memory bandwidth.</a:t>
            </a:r>
          </a:p>
          <a:p/>
          <a:p>
            <a:r>
              <a:t>In practice, you don't get the full 2× because of overhead (scale factors, dequant ops). 30-50% real speedup per precision level is typical.</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Number formats table. Walk through:</a:t>
            </a:r>
          </a:p>
          <a:p/>
          <a:p>
            <a:r>
              <a:t>FP16 / BF16: 16 bits. Default for training. BF16 has more exponent (wider range), less mantissa.</a:t>
            </a:r>
          </a:p>
          <a:p/>
          <a:p>
            <a:r>
              <a:t>FP8: 8 bits. Hopper introduced. The sweet spot for inference — minimal quality loss, 2× speed.</a:t>
            </a:r>
          </a:p>
          <a:p/>
          <a:p>
            <a:r>
              <a:t>MXFP8: 8 bits with microscaling (block of 32 shares a scale factor). Better outlier preservation.</a:t>
            </a:r>
          </a:p>
          <a:p/>
          <a:p>
            <a:r>
              <a:t>FP4 / NVFP4: 4 bits. Blackwell. Aggressive — quality risk. NVFP4 uses block size 16 plus global 32-bit factor.</a:t>
            </a:r>
          </a:p>
          <a:p/>
          <a:p>
            <a:r>
              <a:t>INT8 / INT4: 8 or 4 bits, no exponent. Bad for LLMs because no dynamic range for outliers.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float beats int for inference. The exponent gives dynamic range.</a:t>
            </a:r>
          </a:p>
          <a:p/>
          <a:p>
            <a:r>
              <a:t>Neural network values are not uniformly distributed. Most weights cluster near zero with rare outliers (the famous "outlier features" in LLMs). Floating-point's logarithmic spacing captures both regimes; integers waste representation on the empty middle and clip outliers.</a:t>
            </a:r>
          </a:p>
          <a:p/>
          <a:p>
            <a:r>
              <a:t>This is why FP8 outperforms INT8 for LLM inference even though they're the same bit count.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Sensitivity hierarchy. Memorize:</a:t>
            </a:r>
          </a:p>
          <a:p>
            <a:r>
              <a:t>1. Weights (least sensitive) — quantize freely.</a:t>
            </a:r>
          </a:p>
          <a:p>
            <a:r>
              <a:t>2. Activations — somewhat sensitive.</a:t>
            </a:r>
          </a:p>
          <a:p>
            <a:r>
              <a:t>3. KV cache — moderately sensitive but unlocks lots of memory.</a:t>
            </a:r>
          </a:p>
          <a:p>
            <a:r>
              <a:t>4. Attention components (most sensitive) — avoid.</a:t>
            </a:r>
          </a:p>
          <a:p/>
          <a:p>
            <a:r>
              <a:t>Why attention is so risky: every token's attention output depends on every prior token's. Errors compound across thousands of tokens.</a:t>
            </a:r>
          </a:p>
          <a:p/>
          <a:p>
            <a:r>
              <a:t>Softmax is almost always left in original precision even in the most aggressive schemes.</a:t>
            </a:r>
          </a:p>
          <a:p/>
          <a:p>
            <a:r>
              <a:t>Recommended starter: FP8 on linear layers + activations + KV cache. Skip attention.</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Speculative decoding. The core idea: decode is memory-bound, so compute is idle. Use that idle compute to generate cheap draft tokens that the real model then validates.</a:t>
            </a:r>
          </a:p>
          <a:p/>
          <a:p>
            <a:r>
              <a:t>The validate step is much cheaper than generating from scratch — like checking a sudoku solution is easier than solving one.</a:t>
            </a:r>
          </a:p>
          <a:p/>
          <a:p>
            <a:r>
              <a:t>Improves TPS, not TTFT.</a:t>
            </a:r>
          </a:p>
          <a:p/>
          <a:p>
            <a:r>
              <a:t>Disable at high batch sizes — when compute is saturated, speculation just steals from real generation.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speculation methods.</a:t>
            </a:r>
          </a:p>
          <a:p/>
          <a:p>
            <a:r>
              <a:t>Draft-target: separate small draft model (≥10× smaller, same family). Easy to deploy, but most overhead.</a:t>
            </a:r>
          </a:p>
          <a:p/>
          <a:p>
            <a:r>
              <a:t>Medusa: fine-tune extra decoder heads onto the target. Simpler than draft-target but limited.</a:t>
            </a:r>
          </a:p>
          <a:p/>
          <a:p>
            <a:r>
              <a:t>EAGLE: purpose-built draft model trained on the target's hidden states. Up to 8 draft tokens. Production go-to.</a:t>
            </a:r>
          </a:p>
          <a:p/>
          <a:p>
            <a:r>
              <a:t>N-gram / Lookahead: build dictionary at prefill, match suffixes during decode. Excellent for code completion where output looks like input.</a:t>
            </a:r>
          </a:p>
          <a:p/>
          <a:p>
            <a:r>
              <a:t>Recommended starter: EAGLE if you have training infrastructure, n-gram for code use cases, draft-target for quick experiments.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Quality validation for quantization. Standard is zero perceptible quality loss.</a:t>
            </a:r>
          </a:p>
          <a:p/>
          <a:p>
            <a:r>
              <a:t>Run all three checks:</a:t>
            </a:r>
          </a:p>
          <a:p>
            <a:r>
              <a:t>1. Perplexity comparison on representative sequences.</a:t>
            </a:r>
          </a:p>
          <a:p>
            <a:r>
              <a:t>2. Intelligence benchmarks (MMLU, SWE-bench, HumanEval).</a:t>
            </a:r>
          </a:p>
          <a:p>
            <a:r>
              <a:t>3. Custom evals (your product-specific tests).</a:t>
            </a:r>
          </a:p>
          <a:p/>
          <a:p>
            <a:r>
              <a:t>LLMs are non-deterministic — your "noise floor" matters. Differences smaller than that are statistically meaningless.</a:t>
            </a:r>
          </a:p>
          <a:p/>
          <a:p>
            <a:r>
              <a:t>NVIDIA TensorRT Model Optimizer (ModelOpt) is the leading open-source PTQ library. Outputs work with all three engines.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7. Quantization and speculation cover roughly 80% of practical performance wins.</a:t>
            </a:r>
          </a:p>
          <a:p/>
          <a:p>
            <a:r>
              <a:t>Next time: caching, parallelism, disaggregation. Pre-lecture reader 8 (Parallel computing primer) is required.</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8 START. Today is the remaining big optimization levers — KV cache reuse, multi-GPU parallelism, and prefill/decode disaggregation.</a:t>
            </a:r>
          </a:p>
          <a:p/>
          <a:p>
            <a:r>
              <a:t>These come into play at scale. A 7B model doesn't need parallelism; a 700B model can't avoid it.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through.</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Prefix caching. Two requests sharing a prefix can skip the prefill for the shared portion.</a:t>
            </a:r>
          </a:p>
          <a:p/>
          <a:p>
            <a:r>
              <a:t>Hard rule: caching breaks at the first non-repeated token. If novel content appears at position 2, anything after position 2 in those requests can't be cached — even if it happens to match.</a:t>
            </a:r>
          </a:p>
          <a:p/>
          <a:p>
            <a:r>
              <a:t>Context engineering rule: put novel tokens (user's question, dynamic data) AS LATE AS POSSIBLE. System prompt and shared scaffolding first.</a:t>
            </a:r>
          </a:p>
          <a:p/>
          <a:p>
            <a:r>
              <a:t>High-value domains: complex system prompts, RAG, code completion (same codebase context), multi-turn chat (history grows by appending).</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KV cache storage tiers. Walk through:</a:t>
            </a:r>
          </a:p>
          <a:p/>
          <a:p>
            <a:r>
              <a:t>G1 (GPU VRAM): TB/s bandwidth. Default. Hot active prefixes.</a:t>
            </a:r>
          </a:p>
          <a:p>
            <a:r>
              <a:t>G2 (CPU RAM): 100s GB/s. Useful with GB200's NVLink Chip-to-Chip.</a:t>
            </a:r>
          </a:p>
          <a:p>
            <a:r>
              <a:t>G3 (Local SSD): GB/s. For medium-warm caches.</a:t>
            </a:r>
          </a:p>
          <a:p>
            <a:r>
              <a:t>G4 (Networked SSD): GB/s. Global KV cache across replicas.</a:t>
            </a:r>
          </a:p>
          <a:p/>
          <a:p>
            <a:r>
              <a:t>NVIDIA Dynamo's KV Block Manager (KVBM) handles tier movement.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VRAM sizing rule of thumb. Critical for capacity planning.</a:t>
            </a:r>
          </a:p>
          <a:p/>
          <a:p>
            <a:r>
              <a:t>Formula: VRAM = (bits/8) × params × kv_overhead. kv_overhead ≈ 1.8 for production.</a:t>
            </a:r>
          </a:p>
          <a:p/>
          <a:p>
            <a:r>
              <a:t>Walk through DeepSeek-V3 example: 671B params at FP8 → 1,208 GB. Needs 8 × B200 (1,440 GB). A full node minimum.</a:t>
            </a:r>
          </a:p>
          <a:p/>
          <a:p>
            <a:r>
              <a:t>Most frontier LLMs are multi-GPU. Sometimes multi-node. Plan capacity from the model up.</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parallelism strategies. Walk through:</a:t>
            </a:r>
          </a:p>
          <a:p/>
          <a:p>
            <a:r>
              <a:t>Tensor Parallelism (TP): split each layer's weights. Lowest latency. But heavy all-reduce — limited to within a node by NVLink.</a:t>
            </a:r>
          </a:p>
          <a:p/>
          <a:p>
            <a:r>
              <a:t>Expert Parallelism (EP): split MoE experts. Highest throughput. Low communication. Multi-node friendly.</a:t>
            </a:r>
          </a:p>
          <a:p/>
          <a:p>
            <a:r>
              <a:t>Pipeline Parallelism (PP): split successive layers. Multi-node fallback for dense models. Has bubbles (some GPUs idle while others work).</a:t>
            </a:r>
          </a:p>
          <a:p/>
          <a:p>
            <a:r>
              <a:t>Real production: combine. TP8 within a node + EP across nodes. Or TP8PP2 for dense multi-node.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Disaggregation. Separate prefill and decode onto independent engines.</a:t>
            </a:r>
          </a:p>
          <a:p/>
          <a:p>
            <a:r>
              <a:t>Why: prefill (compute-bound) and decode (memory-bound) interfere when run together at high load.</a:t>
            </a:r>
          </a:p>
          <a:p/>
          <a:p>
            <a:r>
              <a:t>Each engine can be sized for its bottleneck. Prefill wants more compute, lower TP. Decode wants more memory, higher TP.</a:t>
            </a:r>
          </a:p>
          <a:p/>
          <a:p>
            <a:r>
              <a:t>xPyD notation: x prefill engines + y decode engines. e.g., 5P3D = 5 prefill + 3 decode.</a:t>
            </a:r>
          </a:p>
          <a:p/>
          <a:p>
            <a:r>
              <a:t>Conditional disaggregation: requests try decode first; only forwarded to prefill if input is large and uncached.</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to disaggregate. All THREE must be true:</a:t>
            </a:r>
          </a:p>
          <a:p>
            <a:r>
              <a:t>1. Heavy traffic (100M to 1B tokens/day for the model size).</a:t>
            </a:r>
          </a:p>
          <a:p>
            <a:r>
              <a:t>2. Large model (≥100B params).</a:t>
            </a:r>
          </a:p>
          <a:p>
            <a:r>
              <a:t>3. Prefill-heavy workload (long input sequences).</a:t>
            </a:r>
          </a:p>
          <a:p/>
          <a:p>
            <a:r>
              <a:t>If any of these fail, use the GPUs for horizontal replica scaling instead. Disaggregation has real complexity cost — don't reach for it casually.</a:t>
            </a:r>
          </a:p>
          <a:p/>
          <a:p>
            <a:r>
              <a:t>Textbook fit: a frontier LLM in a code editor — many developers passing large/varied chunks of code as context. Mostly prefill, lots of tokens, trillion-param model.</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8. This concludes the optimization-techniques arc.</a:t>
            </a:r>
          </a:p>
          <a:p/>
          <a:p>
            <a:r>
              <a:t>Next time: modalities beyond text. Pre-lecture reader 9 (Modalities and signal processing).</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9 START. We've covered LLMs in depth. Today we generalize to other modalities — vision, embeddings, audio, image generation, video.</a:t>
            </a:r>
          </a:p>
          <a:p/>
          <a:p>
            <a:r>
              <a:t>The high-level takeaway: most LLM optimizations transfer, but each modality has quirks. Some break the model entirely (embeddings have no decode phase).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through.</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Modality cheat sheet. The defining table of the lecture. Walk through one row at a time.</a:t>
            </a:r>
          </a:p>
          <a:p/>
          <a:p>
            <a:r>
              <a:t>LLM: autoregressive, decode is memory-bound. Optimization toolkit: speculation, KV cache, quantization.</a:t>
            </a:r>
          </a:p>
          <a:p/>
          <a:p>
            <a:r>
              <a:t>VLM: LLM + vision encoder. Long context is the challenge. Same toolkit + downsampling.</a:t>
            </a:r>
          </a:p>
          <a:p/>
          <a:p>
            <a:r>
              <a:t>Embedding: encoder-only. Big batches, scale horizontally. Prefix caching is irrelevant (no decode).</a:t>
            </a:r>
          </a:p>
          <a:p/>
          <a:p>
            <a:r>
              <a:t>ASR/TTS: encoder-decoder, decoder is LLM-like. TensorRT-LLM is the optimization tool.</a:t>
            </a:r>
          </a:p>
          <a:p/>
          <a:p>
            <a:r>
              <a:t>Image / video gen: iterative denoising. Compute-bound. Different toolkit entirely.</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VLMs. The defining number: 1,000 visual tokens per 1024×1024 image.</a:t>
            </a:r>
          </a:p>
          <a:p/>
          <a:p>
            <a:r>
              <a:t>4 seconds of 24 fps video = 96,000 tokens. Long context becomes critical fast.</a:t>
            </a:r>
          </a:p>
          <a:p/>
          <a:p>
            <a:r>
              <a:t>Transfers from LLM: KV cache quantization, EAGLE speculation, prefix caching, Tensor Parallelism, disaggregation.</a:t>
            </a:r>
          </a:p>
          <a:p/>
          <a:p>
            <a:r>
              <a:t>New tradeoff: input resolution + frame rate. Lower-res, lower-fps = fewer tokens = faster + cheaper, but quality risk. Production pipelines often mix VLMs with specialized models (dedicated OCR, dedicated VAD).</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Embeddings. The "wait, this is different" modality.</a:t>
            </a:r>
          </a:p>
          <a:p/>
          <a:p>
            <a:r>
              <a:t>Tokens process in parallel. No prefill / decode split. Therefore:</a:t>
            </a:r>
          </a:p>
          <a:p>
            <a:r>
              <a:t>- Prefix caching irrelevant.</a:t>
            </a:r>
          </a:p>
          <a:p>
            <a:r>
              <a:t>- Disaggregation irrelevant.</a:t>
            </a:r>
          </a:p>
          <a:p>
            <a:r>
              <a:t>- Multi-GPU parallelism wasted (models are small).</a:t>
            </a:r>
          </a:p>
          <a:p>
            <a:r>
              <a:t>- Scale horizontally instead.</a:t>
            </a:r>
          </a:p>
          <a:p/>
          <a:p>
            <a:r>
              <a:t>Embedding inference is throughput-dominated. Big batches (dozens to hundreds per request), one replica per GPU, robust queuing for surges.</a:t>
            </a:r>
          </a:p>
          <a:p/>
          <a:p>
            <a:r>
              <a:t>FP8 quantization works well. Validate with cosine similarity ≥99% to original.</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Whisper RTF. The audio metric.</a:t>
            </a:r>
          </a:p>
          <a:p/>
          <a:p>
            <a:r>
              <a:t>RTF = real-time factor. RTF 1× = transcribes audio as fast as it plays. RTF 1000× = an hour of audio in 4 seconds.</a:t>
            </a:r>
          </a:p>
          <a:p/>
          <a:p>
            <a:r>
              <a:t>For real-time dictation: RTF ≥ 1× per chunk. For batch transcription: higher RTF = lower cost.</a:t>
            </a:r>
          </a:p>
          <a:p/>
          <a:p>
            <a:r>
              <a:t>Pipeline: VAD chunks → distribute across MIG slices → stitch by timestamp.</a:t>
            </a:r>
          </a:p>
          <a:p/>
          <a:p>
            <a:r>
              <a:t>The 1,000× figure is real — optimized Whisper deployments hit it.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ASR and TTS in real time. Both leverage:</a:t>
            </a:r>
          </a:p>
          <a:p>
            <a:r>
              <a:t>- WebSocket streaming for bidirectional audio.</a:t>
            </a:r>
          </a:p>
          <a:p>
            <a:r>
              <a:t>- VAD (Voice Activity Detection) for chunking.</a:t>
            </a:r>
          </a:p>
          <a:p>
            <a:r>
              <a:t>- TensorRT-LLM under the hood (Whisper decoder is LLM-like).</a:t>
            </a:r>
          </a:p>
          <a:p/>
          <a:p>
            <a:r>
              <a:t>ASR live dictation: target ~200 ms per chunk. Most runtime gains exhausted; gains now come from infrastructure (WebSockets, VAD, queue management).</a:t>
            </a:r>
          </a:p>
          <a:p/>
          <a:p>
            <a:r>
              <a:t>TTS: TPS capped at real-time audio playback (~80-100 TPS). Anything faster is wasted. Excess capacity → more concurrent users.</a:t>
            </a:r>
          </a:p>
          <a:p/>
          <a:p>
            <a:r>
              <a:t>Voice products today are cascading: VAD → ASR → LLM → TTS. Unified speech-to-speech models are coming but not yet commercially viable.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Image gen — "one weird trick." Skip classifier-free guidance for the last ~20 of 50 steps.</a:t>
            </a:r>
          </a:p>
          <a:p/>
          <a:p>
            <a:r>
              <a:t>Drops total forward passes from 100 to 80. Quality usually fine because the model isn't going to fundamentally redraw the image at step 30+.</a:t>
            </a:r>
          </a:p>
          <a:p/>
          <a:p>
            <a:r>
              <a:t>Other kernel choices: FlashAttention 3/4 for attention, fused RMSNorm, 8-bit GEMM where viable.</a:t>
            </a:r>
          </a:p>
          <a:p/>
          <a:p>
            <a:r>
              <a:t>Compile with torch.compile or use SGLang Diffusion / TensorRT for production. Engines must be compiled per-GPU.</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Video generation. The most demanding modality.</a:t>
            </a:r>
          </a:p>
          <a:p/>
          <a:p>
            <a:r>
              <a:t>Attention is 70-80% of compute time. Run on Blackwell (or Rubin), full 8-GPU nodes, batch size 1.</a:t>
            </a:r>
          </a:p>
          <a:p/>
          <a:p>
            <a:r>
              <a:t>Context Parallelism (CP), not Tensor Parallelism:</a:t>
            </a:r>
          </a:p>
          <a:p>
            <a:r>
              <a:t>- Weights are SMALL enough to replicate across all 8 GPUs.</a:t>
            </a:r>
          </a:p>
          <a:p>
            <a:r>
              <a:t>- Attention computation is split via ring attention.</a:t>
            </a:r>
          </a:p>
          <a:p>
            <a:r>
              <a:t>- Each GPU holds a piece of context and passes intermediates around the ring.</a:t>
            </a:r>
          </a:p>
          <a:p/>
          <a:p>
            <a:r>
              <a:t>Attention caching: reuse outputs across timesteps or layers. 30-40% speedup but quality varies — test carefully.</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9. Diversity of modalities, common core of techniques.</a:t>
            </a:r>
          </a:p>
          <a:p/>
          <a:p>
            <a:r>
              <a:t>Next time: production. Pre-lecture reader 10 (Distributed systems for production).</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10 START. The final lecture. We move from "make one box fast" to "run a production service that real users depend on."</a:t>
            </a:r>
          </a:p>
          <a:p/>
          <a:p>
            <a:r>
              <a:t>This lecture borrows heavily from distributed systems engineering. Half the slides describe concepts that aren't specific to ML; the other half describe how ML inference twists those concepts.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through.</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Containerization. Standard packages: container, image, Dockerfile, registry.</a:t>
            </a:r>
          </a:p>
          <a:p/>
          <a:p>
            <a:r>
              <a:t>For inference, the container bundles:</a:t>
            </a:r>
          </a:p>
          <a:p>
            <a:r>
              <a:t>- CUDA toolkit + cuDNN + driver versions.</a:t>
            </a:r>
          </a:p>
          <a:p>
            <a:r>
              <a:t>- Python packages (torch, transformers, diffusers).</a:t>
            </a:r>
          </a:p>
          <a:p>
            <a:r>
              <a:t>- Inference engine (vLLM, SGLang, TRT-LLM).</a:t>
            </a:r>
          </a:p>
          <a:p>
            <a:r>
              <a:t>- System packages (ffmpeg, etc.).</a:t>
            </a:r>
          </a:p>
          <a:p/>
          <a:p>
            <a:r>
              <a:t>PIN exact versions. Day-zero model launches mean using pre-release builds — plan to rebuild against stable releases over the following weeks.</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Autoscaling signals. Use BOTH utilization and traffic.</a:t>
            </a:r>
          </a:p>
          <a:p/>
          <a:p>
            <a:r>
              <a:t>Utilization (GPU mem + compute) → lagging indicator. Already saturated by the time you see it.</a:t>
            </a:r>
          </a:p>
          <a:p/>
          <a:p>
            <a:r>
              <a:t>Traffic (incoming RPS) → proactive indicator. Scale before saturation.</a:t>
            </a:r>
          </a:p>
          <a:p/>
          <a:p>
            <a:r>
              <a:t>They can diverge. A few requests with 100K uncached tokens spike utilization without high traffic count.</a:t>
            </a:r>
          </a:p>
          <a:p/>
          <a:p>
            <a:r>
              <a:t>Concurrency target MUST match the inference engine's batch size. Mismatch = wasted GPU (too low) or queueing (too high).</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Cold starts. Four contributors:</a:t>
            </a:r>
          </a:p>
          <a:p>
            <a:r>
              <a:t>1. GPU procurement (cloud-provider problem).</a:t>
            </a:r>
          </a:p>
          <a:p>
            <a:r>
              <a:t>2. Image loading (slim images load faster).</a:t>
            </a:r>
          </a:p>
          <a:p>
            <a:r>
              <a:t>3. Model loading (don't bake huge weights into the image; load from storage near GPU).</a:t>
            </a:r>
          </a:p>
          <a:p>
            <a:r>
              <a:t>4. Engine startup (cache compiled engines for TensorRT-LLM and torch.compile).</a:t>
            </a:r>
          </a:p>
          <a:p/>
          <a:p>
            <a:r>
              <a:t>A 90-second cold start on a scale-to-zero deployment + traffic burst = disaster. We'll see why on the next-but-one slide.</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Llama 3 reliability data. The headline number: 419 unexpected interruptions on 16,000 GPUs over 54 days = roughly 1 failure per 50,000 GPU-hours.</a:t>
            </a:r>
          </a:p>
          <a:p/>
          <a:p>
            <a:r>
              <a:t>A single 8-GPU node running for a year ≈ 70,000+ GPU-hours. So a single-node deployment expects multiple failures per year.</a:t>
            </a:r>
          </a:p>
          <a:p/>
          <a:p>
            <a:r>
              <a:t>Build for failure. Active-active multi-region, health checks, retries with backoff, circuit breakers. These aren't bonus features; they're table stakes.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multi-cloud postures.</a:t>
            </a:r>
          </a:p>
          <a:p/>
          <a:p>
            <a:r>
              <a:t>Active-active: multiple regions serve live traffic. Failures transparent. Higher complexity, higher cost. Best for global consumer products.</a:t>
            </a:r>
          </a:p>
          <a:p/>
          <a:p>
            <a:r>
              <a:t>Active-passive: hot standby idle until failover. Failover takes seconds-to-minutes. Cheaper. Best for compliance-critical batch.</a:t>
            </a:r>
          </a:p>
          <a:p/>
          <a:p>
            <a:r>
              <a:t>Procurement: mix reserved (long-term discount) + on-demand (flexibility) + spot (cheap, preemptible). Production runs all three simultaneously.</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Deployment strategies.</a:t>
            </a:r>
          </a:p>
          <a:p/>
          <a:p>
            <a:r>
              <a:t>Blue-green: doubles GPU spend during cutover. Bad for inference.</a:t>
            </a:r>
          </a:p>
          <a:p/>
          <a:p>
            <a:r>
              <a:t>Canary (preferred): route small % to new deployment first, monitor metrics, gradually shift more. Autoscaling shrinks the old as traffic moves. Incremental cost stays manageable.</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Cost: dedicated vs. per-token. The math works out closer than students expect.</a:t>
            </a:r>
          </a:p>
          <a:p/>
          <a:p>
            <a:r>
              <a:t>Example: 1B input + 500M output tokens.</a:t>
            </a:r>
          </a:p>
          <a:p>
            <a:r>
              <a:t>Per-token: 1B × $1.25/M + 500M × $10/M = $6,250.</a:t>
            </a:r>
          </a:p>
          <a:p>
            <a:r>
              <a:t>Dedicated: 1,600 GPU-hours × $3.50/hr = $5,600.</a:t>
            </a:r>
          </a:p>
          <a:p/>
          <a:p>
            <a:r>
              <a:t>Savings: $650/month (~10%) — BEFORE engineering cost.</a:t>
            </a:r>
          </a:p>
          <a:p/>
          <a:p>
            <a:r>
              <a:t>The engineering cost is the kicker. A senior inference engineer at $300K/year + benefits costs ~$25K/month. Don't switch to dedicated to save $650/month unless the strategic reasons are strong.</a:t>
            </a:r>
          </a:p>
          <a:p/>
          <a:p>
            <a:r>
              <a:t>For &gt;$100K/month workloads, dedicated savings become meaningful even after engineering costs.</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Don't forget the client. TLS handshake takes ~30 ms — that's 10%+ of a 300 ms P95 budget.</a:t>
            </a:r>
          </a:p>
          <a:p/>
          <a:p>
            <a:r>
              <a:t>Reuse sessions. The OpenAI SDK does this silently.</a:t>
            </a:r>
          </a:p>
          <a:p/>
          <a:p>
            <a:r>
              <a:t>Async inference for throughput-not-latency workloads.</a:t>
            </a:r>
          </a:p>
          <a:p/>
          <a:p>
            <a:r>
              <a:t>Streaming protocols:</a:t>
            </a:r>
          </a:p>
          <a:p>
            <a:r>
              <a:t>- LLMs over HTTP streaming = sufficient.</a:t>
            </a:r>
          </a:p>
          <a:p>
            <a:r>
              <a:t>- Voice/video real-time = WebSockets (unstructured) or gRPC (schema-enforced).</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Lecture 10. The full course is now behind you.</a:t>
            </a:r>
          </a:p>
          <a:p/>
          <a:p>
            <a:r>
              <a:t>For the final exam: design questions are the highest-weight section. Practice them with study partners.</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slide. Use this to send students off with concrete next steps.</a:t>
            </a:r>
          </a:p>
          <a:p/>
          <a:p>
            <a:r>
              <a:t>The "next steps" mentioned in the bullet are real:</a:t>
            </a:r>
          </a:p>
          <a:p>
            <a:r>
              <a:t>- Hugging Face has 2 million+ models. Browse, download, run.</a:t>
            </a:r>
          </a:p>
          <a:p>
            <a:r>
              <a:t>- vLLM is open source. Read it.</a:t>
            </a:r>
          </a:p>
          <a:p>
            <a:r>
              <a:t>- Rent a GPU on Lambda, RunPod, Coreweave, etc. Most have introductory free credits.</a:t>
            </a:r>
          </a:p>
          <a:p>
            <a:r>
              <a:t>- The book (Inference Engineering by Philip Kiely) is the canonical reference.</a:t>
            </a:r>
          </a:p>
          <a:p/>
          <a:p>
            <a:r>
              <a:t>Open the floor for questions. End with: "Inference engineering is one of the highest-leverage technical skills in software today. You're now equipped to participate. Go build something.</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F96167"/>
          </a:solidFill>
          <a:ln w="12700">
            <a:solidFill>
              <a:srgbClr val="F96167"/>
            </a:solidFill>
            <a:prstDash val="solid"/>
          </a:ln>
        </p:spPr>
      </p:sp>
      <p:sp>
        <p:nvSpPr>
          <p:cNvPr id="3" name="Text 1"/>
          <p:cNvSpPr/>
          <p:nvPr/>
        </p:nvSpPr>
        <p:spPr>
          <a:xfrm>
            <a:off x="914400" y="1554480"/>
            <a:ext cx="10515600" cy="1097280"/>
          </a:xfrm>
          <a:prstGeom prst="rect">
            <a:avLst/>
          </a:prstGeom>
          <a:noFill/>
          <a:ln/>
        </p:spPr>
        <p:txBody>
          <a:bodyPr wrap="square" lIns="0" tIns="0" rIns="0" bIns="0" rtlCol="0" anchor="ctr"/>
          <a:lstStyle/>
          <a:p>
            <a:pPr indent="0" marL="0">
              <a:buNone/>
            </a:pPr>
            <a:r>
              <a:rPr lang="en-US" sz="8800" b="1" spc="400" kern="0" dirty="0">
                <a:solidFill>
                  <a:srgbClr val="FFFFFF"/>
                </a:solidFill>
                <a:latin typeface="Calibri" pitchFamily="34" charset="0"/>
                <a:ea typeface="Calibri" pitchFamily="34" charset="-122"/>
                <a:cs typeface="Calibri" pitchFamily="34" charset="-120"/>
              </a:rPr>
              <a:t>INFERENCE</a:t>
            </a:r>
            <a:endParaRPr lang="en-US" sz="8800" dirty="0"/>
          </a:p>
        </p:txBody>
      </p:sp>
      <p:sp>
        <p:nvSpPr>
          <p:cNvPr id="4" name="Text 2"/>
          <p:cNvSpPr/>
          <p:nvPr/>
        </p:nvSpPr>
        <p:spPr>
          <a:xfrm>
            <a:off x="914400" y="2697480"/>
            <a:ext cx="10515600" cy="1097280"/>
          </a:xfrm>
          <a:prstGeom prst="rect">
            <a:avLst/>
          </a:prstGeom>
          <a:noFill/>
          <a:ln/>
        </p:spPr>
        <p:txBody>
          <a:bodyPr wrap="square" lIns="0" tIns="0" rIns="0" bIns="0" rtlCol="0" anchor="ctr"/>
          <a:lstStyle/>
          <a:p>
            <a:pPr indent="0" marL="0">
              <a:buNone/>
            </a:pPr>
            <a:r>
              <a:rPr lang="en-US" sz="8800" b="1" spc="400" kern="0" dirty="0">
                <a:solidFill>
                  <a:srgbClr val="F96167"/>
                </a:solidFill>
                <a:latin typeface="Calibri" pitchFamily="34" charset="0"/>
                <a:ea typeface="Calibri" pitchFamily="34" charset="-122"/>
                <a:cs typeface="Calibri" pitchFamily="34" charset="-120"/>
              </a:rPr>
              <a:t>ENGINEERING</a:t>
            </a:r>
            <a:endParaRPr lang="en-US" sz="8800" dirty="0"/>
          </a:p>
        </p:txBody>
      </p:sp>
      <p:sp>
        <p:nvSpPr>
          <p:cNvPr id="5" name="Text 3"/>
          <p:cNvSpPr/>
          <p:nvPr/>
        </p:nvSpPr>
        <p:spPr>
          <a:xfrm>
            <a:off x="914400" y="4114800"/>
            <a:ext cx="10515600" cy="457200"/>
          </a:xfrm>
          <a:prstGeom prst="rect">
            <a:avLst/>
          </a:prstGeom>
          <a:noFill/>
          <a:ln/>
        </p:spPr>
        <p:txBody>
          <a:bodyPr wrap="square" lIns="0" tIns="0" rIns="0" bIns="0"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A 10-week course for undergraduate CS / ML students</a:t>
            </a:r>
            <a:endParaRPr lang="en-US" sz="2200" dirty="0"/>
          </a:p>
        </p:txBody>
      </p:sp>
      <p:sp>
        <p:nvSpPr>
          <p:cNvPr id="6" name="Text 4"/>
          <p:cNvSpPr/>
          <p:nvPr/>
        </p:nvSpPr>
        <p:spPr>
          <a:xfrm>
            <a:off x="914400" y="4663440"/>
            <a:ext cx="1051560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Companion to Inference Engineering by Philip Kiely (Baseten Books, 2026)</a:t>
            </a:r>
            <a:endParaRPr lang="en-US" sz="1600" dirty="0"/>
          </a:p>
        </p:txBody>
      </p:sp>
      <p:sp>
        <p:nvSpPr>
          <p:cNvPr id="7" name="Text 5"/>
          <p:cNvSpPr/>
          <p:nvPr/>
        </p:nvSpPr>
        <p:spPr>
          <a:xfrm>
            <a:off x="914400" y="6126480"/>
            <a:ext cx="10515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Lecture 1 → 10  ·  ~10 slides per lecture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Course agenda</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1 — What is Inference? The three-layer model</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2 — Prerequisites: scale, evals, latency metrics</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3 — Neural networks and LLM mechanics</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4 — Image generation, bottlenecks, attention</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5 — GPU hardware: architectures and generations</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6 — The software stack: CUDA to inference engines</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7 — Quantization and speculative decoding</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8 — Caching, parallelism, disaggregation</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9 — Modalities: vision, embedding, audio, video</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Lecture 10 — Production: containers, autoscaling, multi-cloud</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01</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What is Inference?</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Training vs. inference. The three-layer model. The six runtime techniques.</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Define inference and contrast it with training.</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Name the three layers of an inference stack.</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List the six runtime techniques used to optimize a single instance.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Explain why infrastructure is a separate problem from runtime optimization.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Training vs. inference</a:t>
            </a:r>
            <a:endParaRPr lang="en-US" sz="3000" dirty="0"/>
          </a:p>
        </p:txBody>
      </p:sp>
      <p:sp>
        <p:nvSpPr>
          <p:cNvPr id="4" name="Shape 2"/>
          <p:cNvSpPr/>
          <p:nvPr/>
        </p:nvSpPr>
        <p:spPr>
          <a:xfrm>
            <a:off x="640080" y="1371600"/>
            <a:ext cx="5349240" cy="4937760"/>
          </a:xfrm>
          <a:prstGeom prst="rect">
            <a:avLst/>
          </a:prstGeom>
          <a:solidFill>
            <a:srgbClr val="F8FAFC"/>
          </a:solidFill>
          <a:ln w="12700">
            <a:solidFill>
              <a:srgbClr val="CADCFC"/>
            </a:solidFill>
            <a:prstDash val="solid"/>
          </a:ln>
        </p:spPr>
      </p:sp>
      <p:sp>
        <p:nvSpPr>
          <p:cNvPr id="5" name="Text 3"/>
          <p:cNvSpPr/>
          <p:nvPr/>
        </p:nvSpPr>
        <p:spPr>
          <a:xfrm>
            <a:off x="914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Training</a:t>
            </a:r>
            <a:endParaRPr lang="en-US" sz="2000" dirty="0"/>
          </a:p>
        </p:txBody>
      </p:sp>
      <p:sp>
        <p:nvSpPr>
          <p:cNvPr id="6" name="Text 4"/>
          <p:cNvSpPr/>
          <p:nvPr/>
        </p:nvSpPr>
        <p:spPr>
          <a:xfrm>
            <a:off x="914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Learns model weights from data</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One-time / periodic (capital expense)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Massive compute clusters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Backpropagation</a:t>
            </a:r>
            <a:endParaRPr lang="en-US" sz="1600" dirty="0"/>
          </a:p>
        </p:txBody>
      </p:sp>
      <p:sp>
        <p:nvSpPr>
          <p:cNvPr id="7" name="Shape 5"/>
          <p:cNvSpPr/>
          <p:nvPr/>
        </p:nvSpPr>
        <p:spPr>
          <a:xfrm>
            <a:off x="6355080" y="1371600"/>
            <a:ext cx="5349240" cy="4937760"/>
          </a:xfrm>
          <a:prstGeom prst="rect">
            <a:avLst/>
          </a:prstGeom>
          <a:solidFill>
            <a:srgbClr val="F8FAFC"/>
          </a:solidFill>
          <a:ln w="12700">
            <a:solidFill>
              <a:srgbClr val="CADCFC"/>
            </a:solidFill>
            <a:prstDash val="solid"/>
          </a:ln>
        </p:spPr>
      </p:sp>
      <p:sp>
        <p:nvSpPr>
          <p:cNvPr id="8" name="Text 6"/>
          <p:cNvSpPr/>
          <p:nvPr/>
        </p:nvSpPr>
        <p:spPr>
          <a:xfrm>
            <a:off x="6629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Inference</a:t>
            </a:r>
            <a:endParaRPr lang="en-US" sz="2000" dirty="0"/>
          </a:p>
        </p:txBody>
      </p:sp>
      <p:sp>
        <p:nvSpPr>
          <p:cNvPr id="9" name="Text 7"/>
          <p:cNvSpPr/>
          <p:nvPr/>
        </p:nvSpPr>
        <p:spPr>
          <a:xfrm>
            <a:off x="6629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Serves the trained model to users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Continuous (operational expense)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Production GPUs near users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Forward passes only</a:t>
            </a:r>
            <a:endParaRPr lang="en-US" sz="1600" dirty="0"/>
          </a:p>
        </p:txBody>
      </p:sp>
      <p:sp>
        <p:nvSpPr>
          <p:cNvPr id="10" name="Text 8"/>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Once you ship, almost every GPU-hour your company pays for is spent on inference.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The three layers of an inference stack</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Runtime — make one model on one GPU as fast as possible</a:t>
            </a:r>
            <a:endParaRPr lang="en-US" sz="1800" dirty="0"/>
          </a:p>
          <a:p>
            <a:pPr lvl="1" marL="685800" indent="-342900">
              <a:spcAft>
                <a:spcPts val="600"/>
              </a:spcAft>
              <a:buSzPct val="100000"/>
              <a:buChar char="●"/>
            </a:pPr>
            <a:r>
              <a:rPr lang="en-US" sz="1800" dirty="0">
                <a:solidFill>
                  <a:srgbClr val="6B7280"/>
                </a:solidFill>
                <a:latin typeface="Calibri" pitchFamily="34" charset="0"/>
                <a:ea typeface="Calibri" pitchFamily="34" charset="-122"/>
                <a:cs typeface="Calibri" pitchFamily="34" charset="-120"/>
              </a:rPr>
              <a:t>CUDA → PyTorch → inference engines (vLLM, SGLang, TensorRT-LLM)</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Infrastructure — scale across clusters, regions, clouds</a:t>
            </a:r>
            <a:endParaRPr lang="en-US" sz="1800" dirty="0"/>
          </a:p>
          <a:p>
            <a:pPr lvl="1" marL="685800" indent="-342900">
              <a:spcAft>
                <a:spcPts val="600"/>
              </a:spcAft>
              <a:buSzPct val="100000"/>
              <a:buChar char="●"/>
            </a:pPr>
            <a:r>
              <a:rPr lang="en-US" sz="1800" dirty="0">
                <a:solidFill>
                  <a:srgbClr val="6B7280"/>
                </a:solidFill>
                <a:latin typeface="Calibri" pitchFamily="34" charset="0"/>
                <a:ea typeface="Calibri" pitchFamily="34" charset="-122"/>
                <a:cs typeface="Calibri" pitchFamily="34" charset="-120"/>
              </a:rPr>
              <a:t>Autoscaling, load balancing, multi-cloud capacity, GPU procurement</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Tooling — the right level of developer abstraction</a:t>
            </a:r>
            <a:endParaRPr lang="en-US" sz="1800" dirty="0"/>
          </a:p>
          <a:p>
            <a:pPr lvl="1" marL="685800" indent="-342900">
              <a:spcAft>
                <a:spcPts val="600"/>
              </a:spcAft>
              <a:buSzPct val="100000"/>
              <a:buChar char="●"/>
            </a:pPr>
            <a:r>
              <a:rPr lang="en-US" sz="1800" dirty="0">
                <a:solidFill>
                  <a:srgbClr val="6B7280"/>
                </a:solidFill>
                <a:latin typeface="Calibri" pitchFamily="34" charset="0"/>
                <a:ea typeface="Calibri" pitchFamily="34" charset="-122"/>
                <a:cs typeface="Calibri" pitchFamily="34" charset="-120"/>
              </a:rPr>
              <a:t>Too low: drowning in YAML. Too high: can't optimize mission-critical work.</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All three matter. Optimizing one while the others are broken is wasted effort.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The six runtime techniques (memorize these)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Batching</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Run requests in parallel, weaving them at the token level → higher throughput</a:t>
            </a:r>
            <a:endParaRPr lang="en-US" sz="1600" dirty="0"/>
          </a:p>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Caching</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Reuse the KV cache for shared prefixes across requests → better TTFT</a:t>
            </a:r>
            <a:endParaRPr lang="en-US" sz="1600" dirty="0"/>
          </a:p>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Quantization</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Lower numeric precision → more FLOPS and less memory bandwidth needed</a:t>
            </a:r>
            <a:endParaRPr lang="en-US" sz="1600" dirty="0"/>
          </a:p>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Speculation</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Draft + validate multiple tokens per forward pass during decode → higher TPS</a:t>
            </a:r>
            <a:endParaRPr lang="en-US" sz="1600" dirty="0"/>
          </a:p>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Parallelism</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Split a model across GPUs to fit larger models or run faster</a:t>
            </a:r>
            <a:endParaRPr lang="en-US" sz="1600" dirty="0"/>
          </a:p>
          <a:p>
            <a:pPr marL="342900" indent="-342900">
              <a:spcAft>
                <a:spcPts val="600"/>
              </a:spcAft>
              <a:buSzPct val="100000"/>
              <a:buChar char="●"/>
            </a:pPr>
            <a:r>
              <a:rPr lang="en-US" sz="1600" b="1" dirty="0">
                <a:solidFill>
                  <a:srgbClr val="1E2761"/>
                </a:solidFill>
                <a:latin typeface="Calibri" pitchFamily="34" charset="0"/>
                <a:ea typeface="Calibri" pitchFamily="34" charset="-122"/>
                <a:cs typeface="Calibri" pitchFamily="34" charset="-120"/>
              </a:rPr>
              <a:t>Disaggregation</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Separate prefill and decode onto independent workers</a:t>
            </a:r>
            <a:endParaRPr lang="en-US" sz="16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These techniques generalize beyond LLMs to VLMs, image gen, ASR, TTS, embeddings, video.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Why infrastructure matters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A perfectly optimized single replica is still finite — it hits a traffic ceiling.</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Phases of infrastructure growth as you scale: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Small scale — autoscaling: spin replicas up and down with traffic.</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 few hundred GPUs — capacity becomes the constraint; spread across regions.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Largest scale — silos kill you. Treat all GPUs across clouds as one pool.</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Why this matters: a faster GPU doesn't solve a region-out-of-capacity problem.</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1</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Inference = serving trained models in production.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Three layers: runtime, infrastructure, tooling. Each is a separate discipline.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Six runtime techniques: Batching, Caching, Quantization, Speculation, Parallelism, Disaggregation.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Infrastructure problems start at hundreds of GPUs. Multi-cloud is the endgame.</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how to measure what you're optimizing.</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02</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Prerequisites Before You Optimize</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Scale and specialization · model selection · TTFT, TPS, percentiles</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Decide between shared APIs and dedicated deployments.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Pick the smallest model that passes your evals.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Differentiate fine-tuning from distillation.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Compute TTFT, ITL, and perceived TPS. Read latency percentiles correctly.</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Separate inference time from end-to-end time.</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Shared inference vs. dedicated deployments</a:t>
            </a:r>
            <a:endParaRPr lang="en-US" sz="3000" dirty="0"/>
          </a:p>
        </p:txBody>
      </p:sp>
      <p:sp>
        <p:nvSpPr>
          <p:cNvPr id="4" name="Shape 2"/>
          <p:cNvSpPr/>
          <p:nvPr/>
        </p:nvSpPr>
        <p:spPr>
          <a:xfrm>
            <a:off x="640080" y="1371600"/>
            <a:ext cx="5349240" cy="4937760"/>
          </a:xfrm>
          <a:prstGeom prst="rect">
            <a:avLst/>
          </a:prstGeom>
          <a:solidFill>
            <a:srgbClr val="F8FAFC"/>
          </a:solidFill>
          <a:ln w="12700">
            <a:solidFill>
              <a:srgbClr val="CADCFC"/>
            </a:solidFill>
            <a:prstDash val="solid"/>
          </a:ln>
        </p:spPr>
      </p:sp>
      <p:sp>
        <p:nvSpPr>
          <p:cNvPr id="5" name="Text 3"/>
          <p:cNvSpPr/>
          <p:nvPr/>
        </p:nvSpPr>
        <p:spPr>
          <a:xfrm>
            <a:off x="914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Shared inference (APIs)</a:t>
            </a:r>
            <a:endParaRPr lang="en-US" sz="2000" dirty="0"/>
          </a:p>
        </p:txBody>
      </p:sp>
      <p:sp>
        <p:nvSpPr>
          <p:cNvPr id="6" name="Text 4"/>
          <p:cNvSpPr/>
          <p:nvPr/>
        </p:nvSpPr>
        <p:spPr>
          <a:xfrm>
            <a:off x="914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Pay per million tokens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Zero engineering overhead</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No control over latency</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Provider uptime caps you</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Cost scales linearly with usage</a:t>
            </a:r>
            <a:endParaRPr lang="en-US" sz="1600" dirty="0"/>
          </a:p>
        </p:txBody>
      </p:sp>
      <p:sp>
        <p:nvSpPr>
          <p:cNvPr id="7" name="Shape 5"/>
          <p:cNvSpPr/>
          <p:nvPr/>
        </p:nvSpPr>
        <p:spPr>
          <a:xfrm>
            <a:off x="6355080" y="1371600"/>
            <a:ext cx="5349240" cy="4937760"/>
          </a:xfrm>
          <a:prstGeom prst="rect">
            <a:avLst/>
          </a:prstGeom>
          <a:solidFill>
            <a:srgbClr val="F8FAFC"/>
          </a:solidFill>
          <a:ln w="12700">
            <a:solidFill>
              <a:srgbClr val="CADCFC"/>
            </a:solidFill>
            <a:prstDash val="solid"/>
          </a:ln>
        </p:spPr>
      </p:sp>
      <p:sp>
        <p:nvSpPr>
          <p:cNvPr id="8" name="Text 6"/>
          <p:cNvSpPr/>
          <p:nvPr/>
        </p:nvSpPr>
        <p:spPr>
          <a:xfrm>
            <a:off x="6629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Dedicated deployment</a:t>
            </a:r>
            <a:endParaRPr lang="en-US" sz="2000" dirty="0"/>
          </a:p>
        </p:txBody>
      </p:sp>
      <p:sp>
        <p:nvSpPr>
          <p:cNvPr id="9" name="Text 7"/>
          <p:cNvSpPr/>
          <p:nvPr/>
        </p:nvSpPr>
        <p:spPr>
          <a:xfrm>
            <a:off x="6629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Per-GPU-hour pricing</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Tunable latency + uptime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Custom / fine-tuned models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Engineering surface area grows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Cheaper at scale</a:t>
            </a:r>
            <a:endParaRPr lang="en-US" sz="1600" dirty="0"/>
          </a:p>
        </p:txBody>
      </p:sp>
      <p:sp>
        <p:nvSpPr>
          <p:cNvPr id="10" name="Text 8"/>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Switch to dedicated when scale, specialization, or orchestration demand it.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App type → what to optimize</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4572000"/>
                <a:gridCol w="3200400"/>
                <a:gridCol w="347472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Application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Online or offline?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Optimize for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Customer-support chat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Online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Latency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Code completion in IDE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Online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Latency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Real-time voice agent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Online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Latency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Back-catalog transcription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Offline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Throughput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Document embedding for RAG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Offline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Throughput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Catalog moderation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Offline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Throughput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Model selection — first principles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All else equal, smaller models are faster and cheaper.</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Most important model-performance decision: which model you pick at all.</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Practical rules: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Start on frontier APIs while finding product-market fit.</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At scale, pick the smallest model that still passes your evals.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Stick with popular architectures — best inference engine support.</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Fine-tuning vs. distillation</a:t>
            </a:r>
            <a:endParaRPr lang="en-US" sz="3000" dirty="0"/>
          </a:p>
        </p:txBody>
      </p:sp>
      <p:sp>
        <p:nvSpPr>
          <p:cNvPr id="4" name="Shape 2"/>
          <p:cNvSpPr/>
          <p:nvPr/>
        </p:nvSpPr>
        <p:spPr>
          <a:xfrm>
            <a:off x="640080" y="1371600"/>
            <a:ext cx="5349240" cy="4937760"/>
          </a:xfrm>
          <a:prstGeom prst="rect">
            <a:avLst/>
          </a:prstGeom>
          <a:solidFill>
            <a:srgbClr val="F8FAFC"/>
          </a:solidFill>
          <a:ln w="12700">
            <a:solidFill>
              <a:srgbClr val="CADCFC"/>
            </a:solidFill>
            <a:prstDash val="solid"/>
          </a:ln>
        </p:spPr>
      </p:sp>
      <p:sp>
        <p:nvSpPr>
          <p:cNvPr id="5" name="Text 3"/>
          <p:cNvSpPr/>
          <p:nvPr/>
        </p:nvSpPr>
        <p:spPr>
          <a:xfrm>
            <a:off x="914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Fine-tuning</a:t>
            </a:r>
            <a:endParaRPr lang="en-US" sz="2000" dirty="0"/>
          </a:p>
        </p:txBody>
      </p:sp>
      <p:sp>
        <p:nvSpPr>
          <p:cNvPr id="6" name="Text 4"/>
          <p:cNvSpPr/>
          <p:nvPr/>
        </p:nvSpPr>
        <p:spPr>
          <a:xfrm>
            <a:off x="914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Same architecture, new weight values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Adapts a model to a domain</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Best for narrow domains (e.g., text-to-SQL)</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Needs labeled data</a:t>
            </a:r>
            <a:endParaRPr lang="en-US" sz="1600" dirty="0"/>
          </a:p>
        </p:txBody>
      </p:sp>
      <p:sp>
        <p:nvSpPr>
          <p:cNvPr id="7" name="Shape 5"/>
          <p:cNvSpPr/>
          <p:nvPr/>
        </p:nvSpPr>
        <p:spPr>
          <a:xfrm>
            <a:off x="6355080" y="1371600"/>
            <a:ext cx="5349240" cy="4937760"/>
          </a:xfrm>
          <a:prstGeom prst="rect">
            <a:avLst/>
          </a:prstGeom>
          <a:solidFill>
            <a:srgbClr val="F8FAFC"/>
          </a:solidFill>
          <a:ln w="12700">
            <a:solidFill>
              <a:srgbClr val="CADCFC"/>
            </a:solidFill>
            <a:prstDash val="solid"/>
          </a:ln>
        </p:spPr>
      </p:sp>
      <p:sp>
        <p:nvSpPr>
          <p:cNvPr id="8" name="Text 6"/>
          <p:cNvSpPr/>
          <p:nvPr/>
        </p:nvSpPr>
        <p:spPr>
          <a:xfrm>
            <a:off x="6629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Distillation</a:t>
            </a:r>
            <a:endParaRPr lang="en-US" sz="2000" dirty="0"/>
          </a:p>
        </p:txBody>
      </p:sp>
      <p:sp>
        <p:nvSpPr>
          <p:cNvPr id="9" name="Text 7"/>
          <p:cNvSpPr/>
          <p:nvPr/>
        </p:nvSpPr>
        <p:spPr>
          <a:xfrm>
            <a:off x="6629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Different (smaller) architecture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Student emulates teacher distributions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Best when only a huge teacher exists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Example: DeepSeek-R1 distilled onto Llama 3</a:t>
            </a:r>
            <a:endParaRPr lang="en-US" sz="1600" dirty="0"/>
          </a:p>
        </p:txBody>
      </p:sp>
      <p:sp>
        <p:nvSpPr>
          <p:cNvPr id="10" name="Text 8"/>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Both inherit some teacher behavior. Distillation captures probability surfaces, not just answers.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LLM latency metrics</a:t>
            </a:r>
            <a:endParaRPr lang="en-US" sz="3000" dirty="0"/>
          </a:p>
        </p:txBody>
      </p:sp>
      <p:sp>
        <p:nvSpPr>
          <p:cNvPr id="4" name="Shape 2"/>
          <p:cNvSpPr/>
          <p:nvPr/>
        </p:nvSpPr>
        <p:spPr>
          <a:xfrm>
            <a:off x="1371600" y="1463040"/>
            <a:ext cx="9418320" cy="2377440"/>
          </a:xfrm>
          <a:prstGeom prst="rect">
            <a:avLst/>
          </a:prstGeom>
          <a:solidFill>
            <a:srgbClr val="1E2761"/>
          </a:solidFill>
          <a:ln w="12700">
            <a:solidFill>
              <a:srgbClr val="1E2761"/>
            </a:solidFill>
            <a:prstDash val="solid"/>
          </a:ln>
        </p:spPr>
      </p:sp>
      <p:sp>
        <p:nvSpPr>
          <p:cNvPr id="5" name="Text 3"/>
          <p:cNvSpPr/>
          <p:nvPr/>
        </p:nvSpPr>
        <p:spPr>
          <a:xfrm>
            <a:off x="1554480" y="1600200"/>
            <a:ext cx="9052560" cy="2103120"/>
          </a:xfrm>
          <a:prstGeom prst="rect">
            <a:avLst/>
          </a:prstGeom>
          <a:noFill/>
          <a:ln/>
        </p:spPr>
        <p:txBody>
          <a:bodyPr wrap="square" lIns="0" tIns="0" rIns="0" bIns="0" rtlCol="0" anchor="ctr"/>
          <a:lstStyle/>
          <a:p>
            <a:pPr algn="l" indent="0" marL="0">
              <a:buNone/>
            </a:pPr>
            <a:r>
              <a:rPr lang="en-US" sz="2000" dirty="0">
                <a:solidFill>
                  <a:srgbClr val="FFFFFF"/>
                </a:solidFill>
                <a:latin typeface="Courier New" pitchFamily="34" charset="0"/>
                <a:ea typeface="Courier New" pitchFamily="34" charset="-122"/>
                <a:cs typeface="Courier New" pitchFamily="34" charset="-120"/>
              </a:rPr>
              <a:t>TTFT  — Time to First Token (latency, prefill-driven)</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TPS   — Tokens Per Second (latency or throughput depending on which)</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ITL   — Inter-Token Latency (ms between tokens during decode)</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perceived TPS = 1000 / ITL_ms</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Example: ITL = 10 ms  →  100 TPS per user</a:t>
            </a:r>
            <a:endParaRPr lang="en-US" sz="2000" dirty="0"/>
          </a:p>
        </p:txBody>
      </p:sp>
      <p:sp>
        <p:nvSpPr>
          <p:cNvPr id="6" name="Text 4"/>
          <p:cNvSpPr/>
          <p:nvPr/>
        </p:nvSpPr>
        <p:spPr>
          <a:xfrm>
            <a:off x="640080" y="4114800"/>
            <a:ext cx="11064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Perceived TPS = one user's experience. Total TPS = whole-service throughput.</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TTFT comes from prefill (compute-bound). TPS comes from decode (memory-bound).</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These are the two metrics every LLM product tracks.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Latency percentiles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2286000"/>
                <a:gridCol w="4114800"/>
                <a:gridCol w="484632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Percentile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Interpretation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P50 (median)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Half are faster, half slower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 in 2 is slower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P90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90% are faster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 in 10 is slower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P95</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95% are faster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 in 20 is slower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P99</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99% are faster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 in 100 is slower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Latency is right-skewed. The mean is misleading. Optimize P90 and P99, not just P50.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Inference time vs. end-to-end time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Inference time = on-GPU time only.</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End-to-end time = what the user actually experiences.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End-to-end = inference time + network + queueing + client overhead.</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Diagnostic heuristic:</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If inference time is fast but end-to-end is slow → the bottleneck is in infrastructure or client, not the model.</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2</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Shared vs. dedicated: switch when scale, specialization, or orchestration require it.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Smaller models that pass your evals beat bigger models for inference.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TTFT + perceived TPS are the two core LLM metrics. Track them at P50/P90/P99.</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Inference time ≠ end-to-end time. Diagnose the gap.</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under the hood — neural nets and LLM internals.</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03</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Neural Networks and LLM Mechanics</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Linear layers · attention · KV cache · MoE</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Describe a neural network in terms of layers, weights, and hidden states.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Walk through tokenization → prefill → decode → logits.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Write the scaled dot-product attention formula and explain Q, K, V.</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Explain why the KV cache exists.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Compare dense models to Mixture of Experts (MoE).</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Linear layer (the building block)</a:t>
            </a:r>
            <a:endParaRPr lang="en-US" sz="3000" dirty="0"/>
          </a:p>
        </p:txBody>
      </p:sp>
      <p:sp>
        <p:nvSpPr>
          <p:cNvPr id="4" name="Shape 2"/>
          <p:cNvSpPr/>
          <p:nvPr/>
        </p:nvSpPr>
        <p:spPr>
          <a:xfrm>
            <a:off x="1371600" y="1463040"/>
            <a:ext cx="9418320" cy="2377440"/>
          </a:xfrm>
          <a:prstGeom prst="rect">
            <a:avLst/>
          </a:prstGeom>
          <a:solidFill>
            <a:srgbClr val="1E2761"/>
          </a:solidFill>
          <a:ln w="12700">
            <a:solidFill>
              <a:srgbClr val="1E2761"/>
            </a:solidFill>
            <a:prstDash val="solid"/>
          </a:ln>
        </p:spPr>
      </p:sp>
      <p:sp>
        <p:nvSpPr>
          <p:cNvPr id="5" name="Text 3"/>
          <p:cNvSpPr/>
          <p:nvPr/>
        </p:nvSpPr>
        <p:spPr>
          <a:xfrm>
            <a:off x="1554480" y="1600200"/>
            <a:ext cx="9052560" cy="2103120"/>
          </a:xfrm>
          <a:prstGeom prst="rect">
            <a:avLst/>
          </a:prstGeom>
          <a:noFill/>
          <a:ln/>
        </p:spPr>
        <p:txBody>
          <a:bodyPr wrap="square" lIns="0" tIns="0" rIns="0" bIns="0" rtlCol="0" anchor="ctr"/>
          <a:lstStyle/>
          <a:p>
            <a:pPr algn="l" indent="0" marL="0">
              <a:buNone/>
            </a:pPr>
            <a:r>
              <a:rPr lang="en-US" sz="2000" dirty="0">
                <a:solidFill>
                  <a:srgbClr val="FFFFFF"/>
                </a:solidFill>
                <a:latin typeface="Courier New" pitchFamily="34" charset="0"/>
                <a:ea typeface="Courier New" pitchFamily="34" charset="-122"/>
                <a:cs typeface="Courier New" pitchFamily="34" charset="-120"/>
              </a:rPr>
              <a:t>y = xW + b</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x = input vector</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W = weight matrix (set during training)</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b = bias vector</a:t>
            </a:r>
            <a:endParaRPr lang="en-US" sz="2000" dirty="0"/>
          </a:p>
        </p:txBody>
      </p:sp>
      <p:sp>
        <p:nvSpPr>
          <p:cNvPr id="6" name="Text 4"/>
          <p:cNvSpPr/>
          <p:nvPr/>
        </p:nvSpPr>
        <p:spPr>
          <a:xfrm>
            <a:off x="640080" y="4114800"/>
            <a:ext cx="11064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Matrix multiplication (matmul) is the most-used operation in deep learning.</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An LLM has dozens to hundreds of such layers stacked.</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Activations (ReLU, SwiGLU) break linearity between them.</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LLM inference: two phases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Prefill</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Process the entire input sequence in parallel.</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Build the KV cache.</a:t>
            </a:r>
            <a:endParaRPr lang="en-US" sz="1800" dirty="0"/>
          </a:p>
          <a:p>
            <a:pPr lvl="1" marL="685800" indent="-342900">
              <a:spcAft>
                <a:spcPts val="600"/>
              </a:spcAft>
              <a:buSzPct val="100000"/>
              <a:buChar char="●"/>
            </a:pPr>
            <a:r>
              <a:rPr lang="en-US" sz="1800" dirty="0">
                <a:solidFill>
                  <a:srgbClr val="F96167"/>
                </a:solidFill>
                <a:latin typeface="Calibri" pitchFamily="34" charset="0"/>
                <a:ea typeface="Calibri" pitchFamily="34" charset="-122"/>
                <a:cs typeface="Calibri" pitchFamily="34" charset="-120"/>
              </a:rPr>
              <a:t>Compute-bound. Drives TTFT.</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Decode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Forward pass per token: read all weights, compute one logit vector.</a:t>
            </a:r>
            <a:endParaRPr lang="en-US" sz="1800" dirty="0"/>
          </a:p>
          <a:p>
            <a:pPr lvl="1" marL="685800" indent="-342900">
              <a:spcAft>
                <a:spcPts val="600"/>
              </a:spcAft>
              <a:buSzPct val="100000"/>
              <a:buChar char="●"/>
            </a:pPr>
            <a:r>
              <a:rPr lang="en-US" sz="1800" dirty="0">
                <a:solidFill>
                  <a:srgbClr val="F96167"/>
                </a:solidFill>
                <a:latin typeface="Calibri" pitchFamily="34" charset="0"/>
                <a:ea typeface="Calibri" pitchFamily="34" charset="-122"/>
                <a:cs typeface="Calibri" pitchFamily="34" charset="-120"/>
              </a:rPr>
              <a:t>Memory-bandwidth-bound. Drives TPS.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Output = softmax(logits) → sample (temperature, top-k, top-p).</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Scaled dot-product attention</a:t>
            </a:r>
            <a:endParaRPr lang="en-US" sz="3000" dirty="0"/>
          </a:p>
        </p:txBody>
      </p:sp>
      <p:sp>
        <p:nvSpPr>
          <p:cNvPr id="4" name="Shape 2"/>
          <p:cNvSpPr/>
          <p:nvPr/>
        </p:nvSpPr>
        <p:spPr>
          <a:xfrm>
            <a:off x="1371600" y="1463040"/>
            <a:ext cx="9418320" cy="2377440"/>
          </a:xfrm>
          <a:prstGeom prst="rect">
            <a:avLst/>
          </a:prstGeom>
          <a:solidFill>
            <a:srgbClr val="1E2761"/>
          </a:solidFill>
          <a:ln w="12700">
            <a:solidFill>
              <a:srgbClr val="1E2761"/>
            </a:solidFill>
            <a:prstDash val="solid"/>
          </a:ln>
        </p:spPr>
      </p:sp>
      <p:sp>
        <p:nvSpPr>
          <p:cNvPr id="5" name="Text 3"/>
          <p:cNvSpPr/>
          <p:nvPr/>
        </p:nvSpPr>
        <p:spPr>
          <a:xfrm>
            <a:off x="1554480" y="1600200"/>
            <a:ext cx="9052560" cy="2103120"/>
          </a:xfrm>
          <a:prstGeom prst="rect">
            <a:avLst/>
          </a:prstGeom>
          <a:noFill/>
          <a:ln/>
        </p:spPr>
        <p:txBody>
          <a:bodyPr wrap="square" lIns="0" tIns="0" rIns="0" bIns="0" rtlCol="0" anchor="ctr"/>
          <a:lstStyle/>
          <a:p>
            <a:pPr algn="l" indent="0" marL="0">
              <a:buNone/>
            </a:pPr>
            <a:r>
              <a:rPr lang="en-US" sz="2000" dirty="0">
                <a:solidFill>
                  <a:srgbClr val="FFFFFF"/>
                </a:solidFill>
                <a:latin typeface="Courier New" pitchFamily="34" charset="0"/>
                <a:ea typeface="Courier New" pitchFamily="34" charset="-122"/>
                <a:cs typeface="Courier New" pitchFamily="34" charset="-120"/>
              </a:rPr>
              <a:t>                     QK^T</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Attention(Q, K, V) = softmax( ───── ) V</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                     √(d_k)</a:t>
            </a:r>
            <a:endParaRPr lang="en-US" sz="2000" dirty="0"/>
          </a:p>
        </p:txBody>
      </p:sp>
      <p:sp>
        <p:nvSpPr>
          <p:cNvPr id="6" name="Text 4"/>
          <p:cNvSpPr/>
          <p:nvPr/>
        </p:nvSpPr>
        <p:spPr>
          <a:xfrm>
            <a:off x="640080" y="4114800"/>
            <a:ext cx="11064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Q (query) — representation of the token being generated.</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K (keys) — representations of all prior tokens.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V (values) — what to pull from each prior token if it attends.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softmax normalizes the dot products into probabilities.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Multi-head attention runs many of these in parallel; each head specializes.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Why the KV cache is essential</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Without it: each new token recomputes attention over all prior tokens → O(N²).</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With it: K and V stored for each prior token → each new token does O(N) work.</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Quadratic → linear. The reason modern LLMs are usable.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Cost: VRAM. Often 50%+ of remaining memory after weights.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Built during prefill. Used + updated during decode.</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Mixture of Experts (MoE)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Dense linear layers replaced by hundreds of "expert" matrices.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 small router picks a few experts per token per layer.</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Example: Qwen3-235B-A22B</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235B total parameters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22B active per token</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8 of 128 experts per layer × 94 layers</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Single-user inference: very efficient (sparse activation).</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Batched production: different requests activate different experts → almost everything active.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Fix: Expert Parallelism (covered in Lecture 8).</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3</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Linear layers + activations + attention + FFN = transformer block.</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Prefill is compute-bound; decode is memory-bandwidth-bound.</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Attention is Q·K^T → softmax → V. KV cache turns it from quadratic to linear.</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MoE adds sparsity. Brilliant for single requests; tricky at batch.</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image generation, bottlenecks, and optimizing attention.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04</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Image Generation, Bottlenecks, and Attention</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Iterative denoising · arithmetic intensity · FlashAttention</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Explain iterative denoising and the three components of an image gen pipeline.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Define arithmetic intensity and the ops:byte ratio.</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Use the roofline model to classify a kernel as compute- or memory-bound.</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Compute arithmetic intensity for a small attention example.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Compare FlashAttention, PagedAttention, and sliding-window attention.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Image generation pipeline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Three components: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Text encoder — turns prompt into latent instructions (CLIP, or full LLM in modern models).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Denoising model — iteratively refines noise in low-dimensional latent space.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VAE — decodes final latent back into pixel-space image.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30-50 denoising steps; each runs 2 forward passes (with prompt + without).</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 Total: ~100 forward passes per image.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Few-step models (≤8 steps) trade quality for 80-90% speedup.</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Three core bottlenecks</a:t>
            </a:r>
            <a:endParaRPr lang="en-US" sz="3000" dirty="0"/>
          </a:p>
        </p:txBody>
      </p:sp>
      <p:sp>
        <p:nvSpPr>
          <p:cNvPr id="4" name="Text 2"/>
          <p:cNvSpPr/>
          <p:nvPr/>
        </p:nvSpPr>
        <p:spPr>
          <a:xfrm>
            <a:off x="457200" y="1645920"/>
            <a:ext cx="11247120" cy="2286000"/>
          </a:xfrm>
          <a:prstGeom prst="rect">
            <a:avLst/>
          </a:prstGeom>
          <a:noFill/>
          <a:ln/>
        </p:spPr>
        <p:txBody>
          <a:bodyPr wrap="square" lIns="0" tIns="0" rIns="0" bIns="0" rtlCol="0" anchor="ctr"/>
          <a:lstStyle/>
          <a:p>
            <a:pPr algn="ctr" indent="0" marL="0">
              <a:buNone/>
            </a:pPr>
            <a:r>
              <a:rPr lang="en-US" sz="11000" b="1" dirty="0">
                <a:solidFill>
                  <a:srgbClr val="1E2761"/>
                </a:solidFill>
                <a:latin typeface="Calibri" pitchFamily="34" charset="0"/>
                <a:ea typeface="Calibri" pitchFamily="34" charset="-122"/>
                <a:cs typeface="Calibri" pitchFamily="34" charset="-120"/>
              </a:rPr>
              <a:t>3</a:t>
            </a:r>
            <a:endParaRPr lang="en-US" sz="11000" dirty="0"/>
          </a:p>
        </p:txBody>
      </p:sp>
      <p:sp>
        <p:nvSpPr>
          <p:cNvPr id="5" name="Text 3"/>
          <p:cNvSpPr/>
          <p:nvPr/>
        </p:nvSpPr>
        <p:spPr>
          <a:xfrm>
            <a:off x="457200" y="3931920"/>
            <a:ext cx="11247120" cy="548640"/>
          </a:xfrm>
          <a:prstGeom prst="rect">
            <a:avLst/>
          </a:prstGeom>
          <a:noFill/>
          <a:ln/>
        </p:spPr>
        <p:txBody>
          <a:bodyPr wrap="square" lIns="0" tIns="0" rIns="0" bIns="0" rtlCol="0" anchor="ctr"/>
          <a:lstStyle/>
          <a:p>
            <a:pPr algn="ctr" indent="0" marL="0">
              <a:buNone/>
            </a:pPr>
            <a:r>
              <a:rPr lang="en-US" sz="2200" b="1" dirty="0">
                <a:solidFill>
                  <a:srgbClr val="F96167"/>
                </a:solidFill>
                <a:latin typeface="Calibri" pitchFamily="34" charset="0"/>
                <a:ea typeface="Calibri" pitchFamily="34" charset="-122"/>
                <a:cs typeface="Calibri" pitchFamily="34" charset="-120"/>
              </a:rPr>
              <a:t>Memorize these.</a:t>
            </a:r>
            <a:endParaRPr lang="en-US" sz="2200" dirty="0"/>
          </a:p>
        </p:txBody>
      </p:sp>
      <p:sp>
        <p:nvSpPr>
          <p:cNvPr id="6" name="Text 4"/>
          <p:cNvSpPr/>
          <p:nvPr/>
        </p:nvSpPr>
        <p:spPr>
          <a:xfrm>
            <a:off x="1371600" y="4754880"/>
            <a:ext cx="9418320" cy="1645920"/>
          </a:xfrm>
          <a:prstGeom prst="rect">
            <a:avLst/>
          </a:prstGeom>
          <a:noFill/>
          <a:ln/>
        </p:spPr>
        <p:txBody>
          <a:bodyPr wrap="square" lIns="0" tIns="0" rIns="0" bIns="0" rtlCol="0" anchor="t"/>
          <a:lstStyle/>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LLM prefill → compute-bound (big matmuls in parallel)</a:t>
            </a:r>
            <a:endParaRPr lang="en-US" sz="1600" dirty="0"/>
          </a:p>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LLM decode → memory-bandwidth-bound (weights loaded per token)</a:t>
            </a:r>
            <a:endParaRPr lang="en-US" sz="1600" dirty="0"/>
          </a:p>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Image / video generation → compute-bound (attention dominates)</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Arithmetic intensity &amp; ops:byte ratio</a:t>
            </a:r>
            <a:endParaRPr lang="en-US" sz="3000" dirty="0"/>
          </a:p>
        </p:txBody>
      </p:sp>
      <p:sp>
        <p:nvSpPr>
          <p:cNvPr id="4" name="Shape 2"/>
          <p:cNvSpPr/>
          <p:nvPr/>
        </p:nvSpPr>
        <p:spPr>
          <a:xfrm>
            <a:off x="1371600" y="1463040"/>
            <a:ext cx="9418320" cy="2377440"/>
          </a:xfrm>
          <a:prstGeom prst="rect">
            <a:avLst/>
          </a:prstGeom>
          <a:solidFill>
            <a:srgbClr val="1E2761"/>
          </a:solidFill>
          <a:ln w="12700">
            <a:solidFill>
              <a:srgbClr val="1E2761"/>
            </a:solidFill>
            <a:prstDash val="solid"/>
          </a:ln>
        </p:spPr>
      </p:sp>
      <p:sp>
        <p:nvSpPr>
          <p:cNvPr id="5" name="Text 3"/>
          <p:cNvSpPr/>
          <p:nvPr/>
        </p:nvSpPr>
        <p:spPr>
          <a:xfrm>
            <a:off x="1554480" y="1600200"/>
            <a:ext cx="9052560" cy="2103120"/>
          </a:xfrm>
          <a:prstGeom prst="rect">
            <a:avLst/>
          </a:prstGeom>
          <a:noFill/>
          <a:ln/>
        </p:spPr>
        <p:txBody>
          <a:bodyPr wrap="square" lIns="0" tIns="0" rIns="0" bIns="0" rtlCol="0" anchor="ctr"/>
          <a:lstStyle/>
          <a:p>
            <a:pPr algn="l" indent="0" marL="0">
              <a:buNone/>
            </a:pPr>
            <a:r>
              <a:rPr lang="en-US" sz="2000" dirty="0">
                <a:solidFill>
                  <a:srgbClr val="FFFFFF"/>
                </a:solidFill>
                <a:latin typeface="Courier New" pitchFamily="34" charset="0"/>
                <a:ea typeface="Courier New" pitchFamily="34" charset="-122"/>
                <a:cs typeface="Courier New" pitchFamily="34" charset="-120"/>
              </a:rPr>
              <a:t>intensity = work (ops) / memory_traffic (bytes)</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ops:byte = GPU peak compute / memory bandwidth</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H100 (FP16):  989 TFLOPS / 3.35 TB/s ≈ 295</a:t>
            </a:r>
            <a:endParaRPr lang="en-US" sz="2000" dirty="0"/>
          </a:p>
        </p:txBody>
      </p:sp>
      <p:sp>
        <p:nvSpPr>
          <p:cNvPr id="6" name="Text 4"/>
          <p:cNvSpPr/>
          <p:nvPr/>
        </p:nvSpPr>
        <p:spPr>
          <a:xfrm>
            <a:off x="640080" y="4114800"/>
            <a:ext cx="11064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Compare a kernel's arithmetic intensity to the GPU's ops:byte: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intensity &gt; ops:byte  →  compute-bound</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intensity &lt; ops:byte  →  memory-bound</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FP8 halves bytes per value → effectively doubles both bandwidth and FLOPS.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Worked example: standard attention</a:t>
            </a:r>
            <a:endParaRPr lang="en-US" sz="3000" dirty="0"/>
          </a:p>
        </p:txBody>
      </p:sp>
      <p:sp>
        <p:nvSpPr>
          <p:cNvPr id="4" name="Shape 2"/>
          <p:cNvSpPr/>
          <p:nvPr/>
        </p:nvSpPr>
        <p:spPr>
          <a:xfrm>
            <a:off x="1371600" y="1463040"/>
            <a:ext cx="9418320" cy="2377440"/>
          </a:xfrm>
          <a:prstGeom prst="rect">
            <a:avLst/>
          </a:prstGeom>
          <a:solidFill>
            <a:srgbClr val="1E2761"/>
          </a:solidFill>
          <a:ln w="12700">
            <a:solidFill>
              <a:srgbClr val="1E2761"/>
            </a:solidFill>
            <a:prstDash val="solid"/>
          </a:ln>
        </p:spPr>
      </p:sp>
      <p:sp>
        <p:nvSpPr>
          <p:cNvPr id="5" name="Text 3"/>
          <p:cNvSpPr/>
          <p:nvPr/>
        </p:nvSpPr>
        <p:spPr>
          <a:xfrm>
            <a:off x="1554480" y="1600200"/>
            <a:ext cx="9052560" cy="2103120"/>
          </a:xfrm>
          <a:prstGeom prst="rect">
            <a:avLst/>
          </a:prstGeom>
          <a:noFill/>
          <a:ln/>
        </p:spPr>
        <p:txBody>
          <a:bodyPr wrap="square" lIns="0" tIns="0" rIns="0" bIns="0" rtlCol="0" anchor="ctr"/>
          <a:lstStyle/>
          <a:p>
            <a:pPr algn="l" indent="0" marL="0">
              <a:buNone/>
            </a:pPr>
            <a:r>
              <a:rPr lang="en-US" sz="2000" dirty="0">
                <a:solidFill>
                  <a:srgbClr val="FFFFFF"/>
                </a:solidFill>
                <a:latin typeface="Courier New" pitchFamily="34" charset="0"/>
                <a:ea typeface="Courier New" pitchFamily="34" charset="-122"/>
                <a:cs typeface="Courier New" pitchFamily="34" charset="-120"/>
              </a:rPr>
              <a:t>N = 4096 (sequence)   d = 128 (head dim)   FP16 (2 bytes/value)</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memory  = 8N^2 + 8Nd       bytes</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compute = 4N^2·d + 3N^2    ops</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 intensity ≈ 62 ops/byte</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H100 ops:byte = 295  →  MEMORY-bound</a:t>
            </a:r>
            <a:endParaRPr lang="en-US" sz="2000" dirty="0"/>
          </a:p>
        </p:txBody>
      </p:sp>
      <p:sp>
        <p:nvSpPr>
          <p:cNvPr id="6" name="Text 4"/>
          <p:cNvSpPr/>
          <p:nvPr/>
        </p:nvSpPr>
        <p:spPr>
          <a:xfrm>
            <a:off x="640080" y="4114800"/>
            <a:ext cx="11064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Standard decode attention is firmly memory-bound on H100.</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Why decode TPS is bandwidth-limited and why attention optimization matters.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FlashAttention, PagedAttention, and variants all attack this number.</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Two strategies for attention</a:t>
            </a:r>
            <a:endParaRPr lang="en-US" sz="3000" dirty="0"/>
          </a:p>
        </p:txBody>
      </p:sp>
      <p:sp>
        <p:nvSpPr>
          <p:cNvPr id="4" name="Shape 2"/>
          <p:cNvSpPr/>
          <p:nvPr/>
        </p:nvSpPr>
        <p:spPr>
          <a:xfrm>
            <a:off x="640080" y="1371600"/>
            <a:ext cx="5349240" cy="4937760"/>
          </a:xfrm>
          <a:prstGeom prst="rect">
            <a:avLst/>
          </a:prstGeom>
          <a:solidFill>
            <a:srgbClr val="F8FAFC"/>
          </a:solidFill>
          <a:ln w="12700">
            <a:solidFill>
              <a:srgbClr val="CADCFC"/>
            </a:solidFill>
            <a:prstDash val="solid"/>
          </a:ln>
        </p:spPr>
      </p:sp>
      <p:sp>
        <p:nvSpPr>
          <p:cNvPr id="5" name="Text 3"/>
          <p:cNvSpPr/>
          <p:nvPr/>
        </p:nvSpPr>
        <p:spPr>
          <a:xfrm>
            <a:off x="914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Implementation improvements (lossless)</a:t>
            </a:r>
            <a:endParaRPr lang="en-US" sz="2000" dirty="0"/>
          </a:p>
        </p:txBody>
      </p:sp>
      <p:sp>
        <p:nvSpPr>
          <p:cNvPr id="6" name="Text 4"/>
          <p:cNvSpPr/>
          <p:nvPr/>
        </p:nvSpPr>
        <p:spPr>
          <a:xfrm>
            <a:off x="914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Same math, fewer HBM reads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FlashAttention — fused per-GPU kernels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FA-3 = Hopper, FA-4 = Blackwell</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PagedAttention — fragmented KV cache pages</a:t>
            </a:r>
            <a:endParaRPr lang="en-US" sz="1600" dirty="0"/>
          </a:p>
        </p:txBody>
      </p:sp>
      <p:sp>
        <p:nvSpPr>
          <p:cNvPr id="7" name="Shape 5"/>
          <p:cNvSpPr/>
          <p:nvPr/>
        </p:nvSpPr>
        <p:spPr>
          <a:xfrm>
            <a:off x="6355080" y="1371600"/>
            <a:ext cx="5349240" cy="4937760"/>
          </a:xfrm>
          <a:prstGeom prst="rect">
            <a:avLst/>
          </a:prstGeom>
          <a:solidFill>
            <a:srgbClr val="F8FAFC"/>
          </a:solidFill>
          <a:ln w="12700">
            <a:solidFill>
              <a:srgbClr val="CADCFC"/>
            </a:solidFill>
            <a:prstDash val="solid"/>
          </a:ln>
        </p:spPr>
      </p:sp>
      <p:sp>
        <p:nvSpPr>
          <p:cNvPr id="8" name="Text 6"/>
          <p:cNvSpPr/>
          <p:nvPr/>
        </p:nvSpPr>
        <p:spPr>
          <a:xfrm>
            <a:off x="6629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New algorithms (lossy)</a:t>
            </a:r>
            <a:endParaRPr lang="en-US" sz="2000" dirty="0"/>
          </a:p>
        </p:txBody>
      </p:sp>
      <p:sp>
        <p:nvSpPr>
          <p:cNvPr id="9" name="Text 7"/>
          <p:cNvSpPr/>
          <p:nvPr/>
        </p:nvSpPr>
        <p:spPr>
          <a:xfrm>
            <a:off x="6629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Different math, breaks quadratic</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Sliding-window attention: O(Nw) where w ≈ 8K-32K</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Sparse / compressed attention variants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Need model training to support it</a:t>
            </a:r>
            <a:endParaRPr lang="en-US" sz="1600" dirty="0"/>
          </a:p>
        </p:txBody>
      </p:sp>
      <p:sp>
        <p:nvSpPr>
          <p:cNvPr id="10" name="Text 8"/>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Use FlashAttention always. Use lossy variants only when trained for them.</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4</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Image gen ≈ 50 steps × 2 passes = 100 forward passes per image.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Three bottlenecks: prefill = compute. decode = memory. image gen = compute.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Arithmetic intensity vs. ops:byte ratio classifies a kernel.</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Standard attention at N=4096 is memory-bound on H100 (62 &lt;&lt; 295).</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FlashAttention and PagedAttention are lossless wins. Sliding-window is a lossy alternative.</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the GPUs all this runs 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05</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GPU Hardware</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SMs · HBM · Hopper · Blackwell · NVLink · InfiniBand</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Describe GPU architecture: SMs, Tensor Cores, CUDA Cores.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Compare NVIDIA generations: Hopper, Lovelace, Blackwell, Rubin.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Differentiate NVLink, NVSwitch, InfiniBand.</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Explain MIG and when to use it.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Identify when alternative accelerators (TPU, MI300, etc.) make sense.</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GPU compute hierarchy</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Streaming Multiprocessor (SM) — building block. H100 has 132.</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Each SM contains: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Tensor Cores — Matrix Multiply-Accumulate (MMA). Dominant for inference.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CUDA Cores — scalar arithmetic.</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Special Function Units — sin, cos, log (used by softmax).</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FLOPS roughly double with each halving of precision.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(1 PFLOPS FP16 ≈ 2 PFLOPS FP8.)</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GPU memory hierarchy (fastest first)</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L0 — instruction cache per Tensor Core</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L1 — shared memory per SM (256 KB on H100)</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L2 — global on-chip cache (50 MB on H100)</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HBM — off-chip main memory (the GPU's VRAM)</a:t>
            </a:r>
            <a:endParaRPr lang="en-US" sz="1800" dirty="0"/>
          </a:p>
          <a:p>
            <a:pPr marL="342900" indent="-342900">
              <a:spcAft>
                <a:spcPts val="600"/>
              </a:spcAft>
              <a:buSzPct val="100000"/>
              <a:buChar char="●"/>
            </a:pPr>
            <a:r>
              <a:rPr lang="en-US" sz="1800" dirty="0">
                <a:solidFill>
                  <a:srgbClr val="F96167"/>
                </a:solidFill>
                <a:latin typeface="Calibri" pitchFamily="34" charset="0"/>
                <a:ea typeface="Calibri" pitchFamily="34" charset="-122"/>
                <a:cs typeface="Calibri" pitchFamily="34" charset="-120"/>
              </a:rPr>
              <a:t>VRAM size limits the model size you can serve.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Memory bandwidth (TB/s) is the bottleneck for LLM decode.</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NVIDIA generations at a glance</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2926080"/>
                <a:gridCol w="1097280"/>
                <a:gridCol w="4114800"/>
                <a:gridCol w="310896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Architecture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Key features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Best for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Ampere (A100)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2020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FP16 / FP32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Legacy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Lovelace (L4, L40)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2022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FP8; no NVLink</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Small models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Hopper (H100, H200)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2022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FP8; FlashAttention 3</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Production today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Blackwell (B100, B200, B300)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2024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FP4 + microscaling; FA-4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New gold standard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Rubin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2026</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HBM4; CPX prefill chip</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Bandwidth-bound decode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Datacenter GPU specs</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1828800"/>
                <a:gridCol w="2743200"/>
                <a:gridCol w="2743200"/>
                <a:gridCol w="393192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GPU</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FP8 dense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VRAM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Bandwidth</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H100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1,979 TFLOPS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80 GB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3.35 TB/s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H200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1,979 TFLOPS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141 GB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4.8 TB/s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B200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~5 PFLOPS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192 GB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~8 TB/s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B300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~5 PFLOPS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288 GB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~8 TB/s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242 TFLOPS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24 GB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300 GB/s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L40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362 TFLOPS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48 GB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864 GB/s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Interconnect speed hierarchy</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1371600"/>
                <a:gridCol w="2743200"/>
                <a:gridCol w="3200400"/>
                <a:gridCol w="393192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Tier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Interconnect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Bandwidth</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Scope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Fastest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NVLink (Blackwell)</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Up to 1,800 GB/s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GPU ↔ GPU within node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Fast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NVLink (Hopper)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900 GB/s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GPU ↔ GPU within node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NVSwitch</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All-to-all on NVLink</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All GPUs in a node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Slow</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InfiniBand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Up to 400 Gb/s per NIC</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Node ↔ Node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Slowest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Ethernet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Up to 100 Gb/s per NIC</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Generic networking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InfiniBand is dramatically slower than NVLink. This shapes parallelism strategy choices.</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MIG, alternative accelerators, local inference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Multi-Instance GPU (MIG)</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Split one GPU into up to 7 compute slices / 8 memory slices.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Useful for serving multiple small models (TTS, embeddings).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Alternative accelerators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AMD MI350, Google TPU, AWS Inferentia/Trainium, Groq LPU, Cerebras WSE-3, etc.</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All face software, manufacturing, and distribution challenges.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Local inference (edge / device)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Zero network latency, privacy, free for developer.</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But: weaker hardware, thermal limits, battery drain, fragmented software.</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5</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GPUs = SMs × (CUDA + Tensor + SFU cores). Tensor cores rule inference.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Memory hierarchy: HBM → L2 → L1 → registers. Bandwidth → decode bottleneck.</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Hopper is today's workhorse; Blackwell is the new gold standard; Rubin lands soon.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NVLink intra-node is fast; InfiniBand inter-node is slow. Plan parallelism around it.</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the software stack that makes the hardware sing.</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06</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The Software Stack</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CUDA · PyTorch · vLLM · SGLang · TensorRT-LLM · Dynamo</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Describe the CUDA stack: kernels, graphs, driver, runtime.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Explain kernel fusion and why it matters for decode.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Differentiate PyTorch from inference engines.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Choose between vLLM, SGLang, and TensorRT-LLM.</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Use benchmarking and profiling correctly.</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CUDA in one slide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CUDA kernel</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 user-defined function that runs in parallel on the GPU.</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CUDA graph</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 DAG of kernels and ops for repeated workflows.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CUDA driver + runtime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Driver = hardware interface. Runtime = developer-facing API.</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Libraries built on CUDA:</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cuBLAS (linear algebra), cuDNN (NN primitives), CUTLASS (custom GEMM), FlashInfer (LLM kernels).</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Kernel fusion — why it matters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Two pointwise kernels back-to-back waste HBM round trips.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Without fusion:</a:t>
            </a:r>
            <a:endParaRPr lang="en-US" sz="1800" dirty="0"/>
          </a:p>
          <a:p>
            <a:pPr lvl="1" marL="685800" indent="-342900">
              <a:spcAft>
                <a:spcPts val="600"/>
              </a:spcAft>
              <a:buSzPct val="100000"/>
              <a:buChar char="●"/>
            </a:pPr>
            <a:r>
              <a:rPr lang="en-US" sz="1800" dirty="0">
                <a:solidFill>
                  <a:srgbClr val="6B7280"/>
                </a:solidFill>
                <a:latin typeface="Calibri" pitchFamily="34" charset="0"/>
                <a:ea typeface="Calibri" pitchFamily="34" charset="-122"/>
                <a:cs typeface="Calibri" pitchFamily="34" charset="-120"/>
              </a:rPr>
              <a:t>Read [1,2,3] → write [2,4,6] → read [2,4,6] → write [6,12,18]</a:t>
            </a:r>
            <a:endParaRPr lang="en-US" sz="1800" dirty="0"/>
          </a:p>
          <a:p>
            <a:pPr lvl="1" marL="685800" indent="-342900">
              <a:spcAft>
                <a:spcPts val="600"/>
              </a:spcAft>
              <a:buSzPct val="100000"/>
              <a:buChar char="●"/>
            </a:pPr>
            <a:r>
              <a:rPr lang="en-US" sz="1800" dirty="0">
                <a:solidFill>
                  <a:srgbClr val="F96167"/>
                </a:solidFill>
                <a:latin typeface="Calibri" pitchFamily="34" charset="0"/>
                <a:ea typeface="Calibri" pitchFamily="34" charset="-122"/>
                <a:cs typeface="Calibri" pitchFamily="34" charset="-120"/>
              </a:rPr>
              <a:t>Two HBM round trips. Half the bandwidth wasted.</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With fusion: one kernel does both ops in registers. One round trip.</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Critical during decode (memory-bandwidth-bound).</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torch.compile fuses automatically; FlashAttention is hand-fused for specific GPUs.</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The three inference engines</a:t>
            </a:r>
            <a:endParaRPr lang="en-US" sz="3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1828800"/>
                <a:gridCol w="2743200"/>
                <a:gridCol w="2743200"/>
                <a:gridCol w="3931920"/>
              </a:tblGrid>
              <a:tr h="365760">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vLLM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SGLang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TensorRT-LLM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Performance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Best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Ease of use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Easy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Easy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Hard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NVIDIA, AMD, Intel, TPU</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NVIDIA, AMD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NVIDIA only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Model support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Most (day-zero)</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Most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Some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License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Apache 2.0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Apache 2.0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Apache 2.0</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When to pick which engine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vLLM</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Rapid stand-up, broadest model + hardware, multimodal Omni.</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SGLang</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Large MoE LLMs (DeepSeek, Kimi), Chinese-model day-zero, image/video gen.</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TensorRT-LLM</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Best perf on Hopper/Blackwell, NVFP4 native, time to invest in tuning.</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NVIDIA Dynamo</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Orchestration above engines: KV reuse, disaggregation, multi-node parallelism.</a:t>
            </a:r>
            <a:endParaRPr lang="en-US" sz="1800" dirty="0"/>
          </a:p>
          <a:p>
            <a:pPr lvl="1" marL="685800" indent="-342900">
              <a:spcAft>
                <a:spcPts val="600"/>
              </a:spcAft>
              <a:buSzPct val="100000"/>
              <a:buChar char="●"/>
            </a:pPr>
            <a:r>
              <a:rPr lang="en-US" sz="1800" dirty="0">
                <a:solidFill>
                  <a:srgbClr val="F96167"/>
                </a:solidFill>
                <a:latin typeface="Calibri" pitchFamily="34" charset="0"/>
                <a:ea typeface="Calibri" pitchFamily="34" charset="-122"/>
                <a:cs typeface="Calibri" pitchFamily="34" charset="-120"/>
              </a:rPr>
              <a:t>Skip Dynamo unless you have huge model + huge traffic.</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Benchmarking and profiling</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Benchmarking tells you WHAT (e.g., P90 TTFT = 350 ms).</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Profiling tells you WHY (kernel X dominates).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Benchmarking tips: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Shadow real production traffic when possible.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Always establish a baseline before optimizing.</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Change ONE variable at a time.</a:t>
            </a:r>
            <a:endParaRPr lang="en-US" sz="1800" dirty="0"/>
          </a:p>
          <a:p>
            <a:pPr lvl="1" marL="685800" indent="-342900">
              <a:spcAft>
                <a:spcPts val="600"/>
              </a:spcAft>
              <a:buSzPct val="100000"/>
              <a:buChar char="●"/>
            </a:pPr>
            <a:r>
              <a:rPr lang="en-US" sz="1800" dirty="0">
                <a:solidFill>
                  <a:srgbClr val="F96167"/>
                </a:solidFill>
                <a:latin typeface="Calibri" pitchFamily="34" charset="0"/>
                <a:ea typeface="Calibri" pitchFamily="34" charset="-122"/>
                <a:cs typeface="Calibri" pitchFamily="34" charset="-120"/>
              </a:rPr>
              <a:t>Speculation and large batch sizes fight each other — test together too.</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Tools: SGLang Genai-bench, NVIDIA GenAI-Perf, Locust, PyTorch Profiler.</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6</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CUDA = NVIDIA's programming layer. PyTorch wraps it. Engines orchestrate.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Kernel fusion eliminates HBM round-trips — critical for decode.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vLLM = anywhere fast. SGLang = MoE + image/video. TensorRT-LLM = best perf.</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Dynamo lives above engines for very large deployments.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Benchmark with realistic traffic. Profile when needed. Change one variable at a time.</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the performance techniques themselves — quantization and speculation.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07</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Quantization and Speculative Decoding</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FP16 → FP8 → FP4 · microscaling · EAGLE · n-gram</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Compare FP16, BF16, FP8, FP4, INT8, INT4 — and the microscaling formats.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Explain why quantization helps both prefill and decode.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Describe four speculation methods: draft-target, Medusa, EAGLE, n-gram.</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Validate quantization quality with multiple methods.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Know when to disable speculation.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Why quantization helps both bottlenecks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Lower precision wins both ways: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Prefill (compute-bound)</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Lower-precision Tensor Cores deliver 2× FLOPS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Decode (memory-bound)</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Half the bytes per value → effectively 2× memory bandwidth</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Real-world: dropping one precision level → 30-50% better LLM perf.</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(Overhead eats some of the theoretical 2×.)</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Number formats</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2926080"/>
                <a:gridCol w="1097280"/>
                <a:gridCol w="3200400"/>
                <a:gridCol w="402336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Format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Bits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First seen 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Use case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FP32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Kepler (2012)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Training (rare for inference)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FP16 / BF16</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Pascal / Ampere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Default training + inference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FP8 (E4M3)</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Hopper (2022)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Sweet spot for inference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MXFP8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Blackwell (2024)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Microscaled FP8</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FP4 / MXFP4 / NVFP4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Blackwell (2024)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Aggressive perf, careful work</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INT8 / INT4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8 / 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Pascal / Turing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Avoid for LLMs — no exponent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Why float beats int for inference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Floating-point values: sign + EXPONENT + mantissa.</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Integers: just sign + value bits — no exponent.</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Exponent gives dynamic range — express very large + very small values.</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Attention has outliers. Outliers matter.</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INT8/INT4 clip outliers → quality loss. FP8/FP4 preserve them.</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Microscaling formats (MXFP8/4, NVFP4) add per-block scale factors.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NVFP4: 16-element blocks + a global 32-bit scale → highest 4-bit granularity.</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What to quantize (and what NOT to)</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Component sensitivity, least → most sensitive:</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1. Weights (linear layers) — least sensitive.</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2. Activations — somewhat sensitive.</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3. KV cache — moderately sensitive; helpful for prefix caching + disaggregation.</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4. Attention components — most sensitive. Errors compound over thousands of tokens.</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Softmax is almost always left in original precision, even in aggressive schemes.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Starter recipe: FP8 on linear layers + activations + KV cache. Skip attention.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Speculative decoding</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Decode is memory-bound — compute sits idle.</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Speculation uses that spare compute: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1. Speculator generates draft tokens (cheap).</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2. Target model validates them in one forward pass.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3. Accept the verified prefix + generate one extra token.</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Result: N+1 tokens per forward pass.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Analogy: solving a sudoku is hard; checking one is easy.</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Improves TPS, not TTFT. Disable at high batch sizes (no spare compute).</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Four speculation methods</a:t>
            </a:r>
            <a:endParaRPr lang="en-US" sz="3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2286000"/>
                <a:gridCol w="5486400"/>
                <a:gridCol w="347472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How it works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Best fit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Draft-target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Small separate draft model (≥10× smaller, same family)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Quick OOTB; no training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Medusa</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Fine-tune extra decoder heads onto target (2-4 drafts)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Simple, limited adoption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EAGLE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Purpose-built draft trained on target's hidden states (up to 8 drafts)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Production go-to</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N-gram / Lookahead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Build dictionary at prefill; match suffixes during decode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Code completion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Validating quantization quality</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Standard: zero perceptible quality loss.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Run all three quality checks: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1. Perplexity — quantized vs. original on representative sequences. Look for minimal increase.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2. Intelligence benchmarks — MMLU, SWE-bench, HumanEval.</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3. Custom evals — your product-specific test suite.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LLMs are non-deterministic — differences should be indistinguishable from noise.</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Tooling: NVIDIA TensorRT Model Optimizer (ModelOpt) is the leading PTQ library.</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7</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Quantization gives both 2× FLOPS and 2× effective bandwidth — both bottlenecks win.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Floats &gt; ints because of exponent → dynamic range → outlier preservation.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Microscaling formats add per-block scale factors. NVFP4 is the new fine-grained 4-bit.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Quantize weights freely. Quantize KV cache carefully. Avoid attention.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Speculation: N+1 tokens per pass. EAGLE = production; n-gram = code completion.</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caching, parallelism, and disaggregation.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08</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Caching, Parallelism, and Disaggregation</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Prefix caching · TP · EP · PP · prefill/decode splits</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Identify when prefix caching helps and where to store the KV cache.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Choose between Tensor, Expert, and Pipeline Parallelism.</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Estimate VRAM requirements for large models.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Decide when to use disaggregation.</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Read xPyD notation.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Prefix caching</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Two requests with the same prefix can skip prefill for the shared part.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Example:</a:t>
            </a:r>
            <a:endParaRPr lang="en-US" sz="1800" dirty="0"/>
          </a:p>
          <a:p>
            <a:pPr lvl="1" marL="685800" indent="-342900">
              <a:spcAft>
                <a:spcPts val="600"/>
              </a:spcAft>
              <a:buSzPct val="100000"/>
              <a:buChar char="●"/>
            </a:pPr>
            <a:r>
              <a:rPr lang="en-US" sz="1800" dirty="0">
                <a:solidFill>
                  <a:srgbClr val="6B7280"/>
                </a:solidFill>
                <a:latin typeface="Calibri" pitchFamily="34" charset="0"/>
                <a:ea typeface="Calibri" pitchFamily="34" charset="-122"/>
                <a:cs typeface="Calibri" pitchFamily="34" charset="-120"/>
              </a:rPr>
              <a:t>"Weather in SF ?" and "Weather in NYC ?" share "Weather in".</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The shared KV cache is reused — better TTFT.</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Hard rule: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Prefix caching works ONLY until the first non-repeated token.</a:t>
            </a:r>
            <a:endParaRPr lang="en-US" sz="1800" dirty="0"/>
          </a:p>
          <a:p>
            <a:pPr lvl="1" marL="6858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Place novel tokens as late as possible in your context.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High-value domains: system prompts, code completion, RAG, multi-turn chat.</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Where to store the KV cache</a:t>
            </a:r>
            <a:endParaRPr lang="en-US" sz="3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914400"/>
                <a:gridCol w="2286000"/>
                <a:gridCol w="1828800"/>
                <a:gridCol w="2286000"/>
                <a:gridCol w="484632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Tier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Storage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Speed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Size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When to use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G1</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GPU VRAM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10s-100s GB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Hot active prefixes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G2</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CPU RAM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100s GB/s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100s GB - TB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GB200 NVLink-C2C offload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G3</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Local SSD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5-10 GB/s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Medium-warm caches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36576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G4</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Networked SSD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GB/s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10s TB</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Global cross-replica cache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VRAM sizing rule of thumb</a:t>
            </a:r>
            <a:endParaRPr lang="en-US" sz="3000" dirty="0"/>
          </a:p>
        </p:txBody>
      </p:sp>
      <p:sp>
        <p:nvSpPr>
          <p:cNvPr id="4" name="Shape 2"/>
          <p:cNvSpPr/>
          <p:nvPr/>
        </p:nvSpPr>
        <p:spPr>
          <a:xfrm>
            <a:off x="1371600" y="1463040"/>
            <a:ext cx="9418320" cy="2377440"/>
          </a:xfrm>
          <a:prstGeom prst="rect">
            <a:avLst/>
          </a:prstGeom>
          <a:solidFill>
            <a:srgbClr val="1E2761"/>
          </a:solidFill>
          <a:ln w="12700">
            <a:solidFill>
              <a:srgbClr val="1E2761"/>
            </a:solidFill>
            <a:prstDash val="solid"/>
          </a:ln>
        </p:spPr>
      </p:sp>
      <p:sp>
        <p:nvSpPr>
          <p:cNvPr id="5" name="Text 3"/>
          <p:cNvSpPr/>
          <p:nvPr/>
        </p:nvSpPr>
        <p:spPr>
          <a:xfrm>
            <a:off x="1554480" y="1600200"/>
            <a:ext cx="9052560" cy="2103120"/>
          </a:xfrm>
          <a:prstGeom prst="rect">
            <a:avLst/>
          </a:prstGeom>
          <a:noFill/>
          <a:ln/>
        </p:spPr>
        <p:txBody>
          <a:bodyPr wrap="square" lIns="0" tIns="0" rIns="0" bIns="0" rtlCol="0" anchor="ctr"/>
          <a:lstStyle/>
          <a:p>
            <a:pPr algn="l" indent="0" marL="0">
              <a:buNone/>
            </a:pPr>
            <a:r>
              <a:rPr lang="en-US" sz="2000" dirty="0">
                <a:solidFill>
                  <a:srgbClr val="FFFFFF"/>
                </a:solidFill>
                <a:latin typeface="Courier New" pitchFamily="34" charset="0"/>
                <a:ea typeface="Courier New" pitchFamily="34" charset="-122"/>
                <a:cs typeface="Courier New" pitchFamily="34" charset="-120"/>
              </a:rPr>
              <a:t>vram_required = (bits/8) × params × kv_overhead</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kv_overhead ≈ 1.8 (production headroom)</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Example: DeepSeek-V3, 671B params, FP8</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vram = (8/8) × 671 × 1.8 ≈ 1,208 GB</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 requires 8 × B200 = 1,440 GB (full node)</a:t>
            </a:r>
            <a:endParaRPr lang="en-US" sz="2000" dirty="0"/>
          </a:p>
        </p:txBody>
      </p:sp>
      <p:sp>
        <p:nvSpPr>
          <p:cNvPr id="6" name="Text 4"/>
          <p:cNvSpPr/>
          <p:nvPr/>
        </p:nvSpPr>
        <p:spPr>
          <a:xfrm>
            <a:off x="640080" y="4114800"/>
            <a:ext cx="11064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Single B200 = 180 GB. A node = 8 × B200 = 1,440 GB.</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Frontier LLMs require multi-GPU. Sometimes multi-node.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If model + KV doesn't truly need a second node, scale replicas horizontally instead.</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Three parallelism strategies</a:t>
            </a:r>
            <a:endParaRPr lang="en-US" sz="3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3017520"/>
                <a:gridCol w="2743200"/>
                <a:gridCol w="2743200"/>
                <a:gridCol w="3657600"/>
              </a:tblGrid>
              <a:tr h="54864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Strategy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splits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Weakness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54864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Tensor Parallelism (TP)</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Each layer's weights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Lowest latency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All-reduce heavy — no multi-node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54864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Expert Parallelism (EP)</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MoE experts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Highest throughput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Only for MoE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54864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Pipeline Parallelism (PP)</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Successive layers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Multi-node fallback</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Pipeline bubbles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TP within a node; EP across MoE; PP for multi-node dense. Combine as needed (e.g., TP8 + EP across nodes).</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Disaggregation</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Separate prefill and decode onto independent engines.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Three reasons it helps: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Prefill (compute) and decode (memory) interfere under high load.</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Each engine sized for its bottleneck (lower TP for prefill, higher TP for decode).</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Independent scaling based on traffic shape.</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xPyD notation: 5P3D = 5 prefill engines + 3 decode engines for one model.</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Conditional disaggregation: requests try decode first, forwarded to prefill only if needed.</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When to disaggregate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Only when ALL THREE are true: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1. Heavy traffic (~100M to 1B tokens/day for the model size)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2. Large model (≥100B params)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3. Prefill-heavy workload (long input sequences)</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Otherwise, use the GPUs for horizontal replica scaling — simpler and often better.</a:t>
            </a:r>
            <a:endParaRPr lang="en-US" sz="1800" dirty="0"/>
          </a:p>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Textbook fit: a frontier LLM in a code editor — many long contexts, mostly prefill.</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8</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Prefix caching: huge TTFT win, but only up to the first novel token. Place novel last.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VRAM ≈ (bits/8) × params × 1.8. Frontier LLMs = full node minimum.</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TP = latency. EP = throughput on MoE. PP = multi-node fallback.</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Disaggregation: only at large scale on large prefill-heavy models.</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modalities beyond text.</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09</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Modalities Beyond Text</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VLMs · embeddings · ASR · TTS · image · video</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Describe how each modality differs from LLM inference.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Identify which LLM optimizations transfer and which don't.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Define modality-specific metrics (time to first sentence, RTF).</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Explain why image and video are compute-bound, not memory-bound.</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Describe Context Parallelism and ring attention.</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Modality cheat sheet</a:t>
            </a:r>
            <a:endParaRPr lang="en-US" sz="3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1247120" cy="914400"/>
        </p:xfrm>
        <a:graphic>
          <a:graphicData uri="http://schemas.openxmlformats.org/drawingml/2006/table">
            <a:tbl>
              <a:tblPr/>
              <a:tblGrid>
                <a:gridCol w="1554480"/>
                <a:gridCol w="2743200"/>
                <a:gridCol w="2377440"/>
                <a:gridCol w="548640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Modality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Archetype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Bottleneck</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Key optimization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LLM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Autoregressive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Decode = memory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Speculation, KV cache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VLM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Autoregressive + vision enc</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Long context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Prefix caching, downsampling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Embedding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Encoder-only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Throughput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Big batches, scale horizontally</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ASR (Whisper)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Encoder-decoder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Decode (LLM-like)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TensorRT-LLM, WebSockets, VAD</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TTS</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LLM-style + audio decoder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Audio decoder</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FP8, in-flight batching, MIG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Image gen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Iterative denoising</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Compute</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Kernel fusion, guidance trick</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Video gen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Iterative denoising (XYT)</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Compute (attention)</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Context Parallelism</a:t>
                      </a:r>
                      <a:endParaRPr lang="en-US" sz="1400" dirty="0">
                        <a:latin typeface="Calibri" charset="0"/>
                        <a:ea typeface="Calibri" charset="0"/>
                        <a:cs typeface="Calibri" charset="0"/>
                      </a:endParaRPr>
                    </a:p>
                  </a:txBody>
                  <a:tcPr marL="91440" marR="91440" marT="45720" marB="45720"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8FAFC"/>
                    </a:solidFill>
                  </a:tcPr>
                </a:tc>
              </a:tr>
            </a:tbl>
          </a:graphicData>
        </a:graphic>
      </p:graphicFrame>
      <p:sp>
        <p:nvSpPr>
          <p:cNvPr id="5" name="Text 2"/>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VLMs — long context is the challenge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A 1024×1024 image ≈ 1,000 visual tokens.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 4-second video at 24 fps × 1,000 tokens ≈ ~100,000 tokens. Downsampling is mandatory.</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Transfers from LLM:</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KV cache quantization, EAGLE speculation, prefix caching, TP, disaggregation.</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New tradeoff: input resolution and frame rate.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Modern reality: production pipelines mix VLMs with specialized models (OCR, VAD) for cost and quality.</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Embeddings — different rules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Tokens process in parallel → no prefill/decode split.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Consequences: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Prefix caching and disaggregation are irrelevant.</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Models are small (&lt;8B) → multi-GPU parallelism is wasted.</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Scale horizontally; one replica per GPU.</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Batching is HUGE — dozens to hundreds of inputs per request.</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Robust queueing is essential for surges.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Quality check for FP8 quantization: cosine similarity between original and quantized outputs ≥99%.</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Whisper RTF</a:t>
            </a:r>
            <a:endParaRPr lang="en-US" sz="3000" dirty="0"/>
          </a:p>
        </p:txBody>
      </p:sp>
      <p:sp>
        <p:nvSpPr>
          <p:cNvPr id="4" name="Text 2"/>
          <p:cNvSpPr/>
          <p:nvPr/>
        </p:nvSpPr>
        <p:spPr>
          <a:xfrm>
            <a:off x="457200" y="1645920"/>
            <a:ext cx="11247120" cy="2286000"/>
          </a:xfrm>
          <a:prstGeom prst="rect">
            <a:avLst/>
          </a:prstGeom>
          <a:noFill/>
          <a:ln/>
        </p:spPr>
        <p:txBody>
          <a:bodyPr wrap="square" lIns="0" tIns="0" rIns="0" bIns="0" rtlCol="0" anchor="ctr"/>
          <a:lstStyle/>
          <a:p>
            <a:pPr algn="ctr" indent="0" marL="0">
              <a:buNone/>
            </a:pPr>
            <a:r>
              <a:rPr lang="en-US" sz="11000" b="1" dirty="0">
                <a:solidFill>
                  <a:srgbClr val="1E2761"/>
                </a:solidFill>
                <a:latin typeface="Calibri" pitchFamily="34" charset="0"/>
                <a:ea typeface="Calibri" pitchFamily="34" charset="-122"/>
                <a:cs typeface="Calibri" pitchFamily="34" charset="-120"/>
              </a:rPr>
              <a:t>1,000×</a:t>
            </a:r>
            <a:endParaRPr lang="en-US" sz="11000" dirty="0"/>
          </a:p>
        </p:txBody>
      </p:sp>
      <p:sp>
        <p:nvSpPr>
          <p:cNvPr id="5" name="Text 3"/>
          <p:cNvSpPr/>
          <p:nvPr/>
        </p:nvSpPr>
        <p:spPr>
          <a:xfrm>
            <a:off x="457200" y="3931920"/>
            <a:ext cx="11247120" cy="548640"/>
          </a:xfrm>
          <a:prstGeom prst="rect">
            <a:avLst/>
          </a:prstGeom>
          <a:noFill/>
          <a:ln/>
        </p:spPr>
        <p:txBody>
          <a:bodyPr wrap="square" lIns="0" tIns="0" rIns="0" bIns="0" rtlCol="0" anchor="ctr"/>
          <a:lstStyle/>
          <a:p>
            <a:pPr algn="ctr" indent="0" marL="0">
              <a:buNone/>
            </a:pPr>
            <a:r>
              <a:rPr lang="en-US" sz="2200" b="1" dirty="0">
                <a:solidFill>
                  <a:srgbClr val="F96167"/>
                </a:solidFill>
                <a:latin typeface="Calibri" pitchFamily="34" charset="0"/>
                <a:ea typeface="Calibri" pitchFamily="34" charset="-122"/>
                <a:cs typeface="Calibri" pitchFamily="34" charset="-120"/>
              </a:rPr>
              <a:t>Real-Time Factor — transcribe an hour in seconds</a:t>
            </a:r>
            <a:endParaRPr lang="en-US" sz="2200" dirty="0"/>
          </a:p>
        </p:txBody>
      </p:sp>
      <p:sp>
        <p:nvSpPr>
          <p:cNvPr id="6" name="Text 4"/>
          <p:cNvSpPr/>
          <p:nvPr/>
        </p:nvSpPr>
        <p:spPr>
          <a:xfrm>
            <a:off x="1371600" y="4754880"/>
            <a:ext cx="9418320" cy="1645920"/>
          </a:xfrm>
          <a:prstGeom prst="rect">
            <a:avLst/>
          </a:prstGeom>
          <a:noFill/>
          <a:ln/>
        </p:spPr>
        <p:txBody>
          <a:bodyPr wrap="square" lIns="0" tIns="0" rIns="0" bIns="0" rtlCol="0" anchor="t"/>
          <a:lstStyle/>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Optimized Whisper pipelines hit ~1,000× Real-Time Factor.</a:t>
            </a:r>
            <a:endParaRPr lang="en-US" sz="1600" dirty="0"/>
          </a:p>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An hour of audio transcribed in under 4 seconds.</a:t>
            </a:r>
            <a:endParaRPr lang="en-US" sz="1600" dirty="0"/>
          </a:p>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Pipeline: VAD chunking → distribute across MIG slices → stitch by timestamp.</a:t>
            </a:r>
            <a:endParaRPr lang="en-US" sz="16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ASR and TTS in real time</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Both work in real time via WebSocket streaming + VAD.</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ASR (live dictation):</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Target ~200 ms per chunk. Runtime is nearly maxed; gains come from infrastructure.</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TTS: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TTFB and "time to first sentence" — the latter is more user-meaningful.</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Token rate capped at real-time playback (~80-100 TPS).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Excess capacity → more concurrent users per GPU.</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Voice products today: cascading VAD → ASR → LLM → TTS pipelines.</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Image gen — "one weird trick"</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Each denoising step runs 2 passes (with prompt + without).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50 steps × 2 passes = 100 forward passes.</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The trick: skip guidance for the last ~20 steps.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 80 passes instead of 100.</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Quality holds because the model isn't repainting a cat as a dog at step 30.</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Kernel choices matter: FlashAttention 3/4, fused RMSNorm, 8-bit GEMM.</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Video gen — context parallelism</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Attention is 70-80% of compute time.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Run on full 8-GPU nodes. Batch size 1.</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Context Parallelism (CP), not Tensor Parallelism:</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Weights are replicated across all 8 GPUs (small enough).</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Attention computation is split via ring attention.</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Each GPU holds a piece of context and passes intermediates around the ring.</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Caching: reuse attention outputs across timesteps or layers (30-40% speedup, test for quality).</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9</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LLM optimizations transfer broadly to VLM, ASR, TTS.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Embeddings break the rules: big batches, no caching, no parallelism.</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Image and video gen are compute-bound. Different bottleneck → different toolkit.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Video uses Context Parallelism (replicate weights, split attention).</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Next time: production — containers, autoscaling, multi-cloud.</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spc="1200" kern="0" dirty="0">
                <a:solidFill>
                  <a:srgbClr val="CADCFC"/>
                </a:solidFill>
                <a:latin typeface="Calibri" pitchFamily="34" charset="0"/>
                <a:ea typeface="Calibri" pitchFamily="34" charset="-122"/>
                <a:cs typeface="Calibri" pitchFamily="34" charset="-120"/>
              </a:rPr>
              <a:t>LECTURE 10</a:t>
            </a:r>
            <a:endParaRPr lang="en-US" sz="1800" dirty="0"/>
          </a:p>
        </p:txBody>
      </p:sp>
      <p:sp>
        <p:nvSpPr>
          <p:cNvPr id="4" name="Text 2"/>
          <p:cNvSpPr/>
          <p:nvPr/>
        </p:nvSpPr>
        <p:spPr>
          <a:xfrm>
            <a:off x="822960" y="1920240"/>
            <a:ext cx="1051560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Production</a:t>
            </a:r>
            <a:endParaRPr lang="en-US" sz="4800" dirty="0"/>
          </a:p>
        </p:txBody>
      </p:sp>
      <p:sp>
        <p:nvSpPr>
          <p:cNvPr id="5" name="Text 3"/>
          <p:cNvSpPr/>
          <p:nvPr/>
        </p:nvSpPr>
        <p:spPr>
          <a:xfrm>
            <a:off x="822960" y="4206240"/>
            <a:ext cx="10515600" cy="91440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Containers · autoscaling · cold starts · multi-cloud · canary deploys</a:t>
            </a:r>
            <a:endParaRPr lang="en-US" sz="2400" dirty="0"/>
          </a:p>
        </p:txBody>
      </p:sp>
      <p:sp>
        <p:nvSpPr>
          <p:cNvPr id="6"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Inference Engineering · Philip Kiely</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Learning objectives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Build a production container for an inference workload.</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Configure autoscaling with concurrency and batch sizing in mind.</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Diagnose and mitigate cold starts.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Explain multi-cloud capacity and GPU procurement modes.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Compare blue-green and canary deployment strategies.</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Containerization</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Standard packages: container, image, Dockerfile, registry.</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Production inference container bundles: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CUDA toolkit + cuDNN + driver versions (must match GPU)</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Python packages — torch, transformers, diffusers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Inference engine — vLLM / SGLang / TensorRT-LLM</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System packages — ffmpeg, etc.</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PIN exact versions.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Day-zero model launches → expect to rebuild against stable releases over the following weeks.</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Autoscaling signals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F2937"/>
                </a:solidFill>
                <a:latin typeface="Calibri" pitchFamily="34" charset="0"/>
                <a:ea typeface="Calibri" pitchFamily="34" charset="-122"/>
                <a:cs typeface="Calibri" pitchFamily="34" charset="-120"/>
              </a:rPr>
              <a:t>Two signals — use BOTH.</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Utilization (GPU mem + compute) → lagging indicator.</a:t>
            </a:r>
            <a:endParaRPr lang="en-US" sz="1800" dirty="0"/>
          </a:p>
          <a:p>
            <a:pPr marL="342900" indent="-342900">
              <a:spcAft>
                <a:spcPts val="600"/>
              </a:spcAft>
              <a:buSzPct val="100000"/>
              <a:buChar char="●"/>
            </a:pPr>
            <a:r>
              <a:rPr lang="en-US" sz="1800" dirty="0">
                <a:solidFill>
                  <a:srgbClr val="1E2761"/>
                </a:solidFill>
                <a:latin typeface="Calibri" pitchFamily="34" charset="0"/>
                <a:ea typeface="Calibri" pitchFamily="34" charset="-122"/>
                <a:cs typeface="Calibri" pitchFamily="34" charset="-120"/>
              </a:rPr>
              <a:t>Traffic (incoming RPS) → proactive indicator.</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They diverge:</a:t>
            </a:r>
            <a:endParaRPr lang="en-US" sz="1800" dirty="0"/>
          </a:p>
          <a:p>
            <a:pPr lvl="1" marL="685800" indent="-342900">
              <a:spcAft>
                <a:spcPts val="600"/>
              </a:spcAft>
              <a:buSzPct val="100000"/>
              <a:buChar char="●"/>
            </a:pPr>
            <a:r>
              <a:rPr lang="en-US" sz="1800" dirty="0">
                <a:solidFill>
                  <a:srgbClr val="6B7280"/>
                </a:solidFill>
                <a:latin typeface="Calibri" pitchFamily="34" charset="0"/>
                <a:ea typeface="Calibri" pitchFamily="34" charset="-122"/>
                <a:cs typeface="Calibri" pitchFamily="34" charset="-120"/>
              </a:rPr>
              <a:t>A few requests with 100K uncached tokens spike utilization without traffic volume.</a:t>
            </a:r>
            <a:endParaRPr lang="en-US" sz="1800" dirty="0"/>
          </a:p>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Concurrency target MUST match the inference engine's batch size.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Mismatch = wasted GPU (too low) or queued requests (too high).</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Cold starts — four contributors</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1. GPU procurement</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Cloud provider problem; negotiable in contracts.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2. Image loading</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Slim images load faster. Keep them lean.</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3. Model loading</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Don't bake huge weights into the image. Load from storage near the GPU.</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4. Engine startup</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TensorRT-LLM compilation takes minutes. Cache compiled engines.</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Llama 3 training reliability data</a:t>
            </a:r>
            <a:endParaRPr lang="en-US" sz="3000" dirty="0"/>
          </a:p>
        </p:txBody>
      </p:sp>
      <p:sp>
        <p:nvSpPr>
          <p:cNvPr id="4" name="Text 2"/>
          <p:cNvSpPr/>
          <p:nvPr/>
        </p:nvSpPr>
        <p:spPr>
          <a:xfrm>
            <a:off x="457200" y="1645920"/>
            <a:ext cx="11247120" cy="2286000"/>
          </a:xfrm>
          <a:prstGeom prst="rect">
            <a:avLst/>
          </a:prstGeom>
          <a:noFill/>
          <a:ln/>
        </p:spPr>
        <p:txBody>
          <a:bodyPr wrap="square" lIns="0" tIns="0" rIns="0" bIns="0" rtlCol="0" anchor="ctr"/>
          <a:lstStyle/>
          <a:p>
            <a:pPr algn="ctr" indent="0" marL="0">
              <a:buNone/>
            </a:pPr>
            <a:r>
              <a:rPr lang="en-US" sz="11000" b="1" dirty="0">
                <a:solidFill>
                  <a:srgbClr val="1E2761"/>
                </a:solidFill>
                <a:latin typeface="Calibri" pitchFamily="34" charset="0"/>
                <a:ea typeface="Calibri" pitchFamily="34" charset="-122"/>
                <a:cs typeface="Calibri" pitchFamily="34" charset="-120"/>
              </a:rPr>
              <a:t>1 / 50,000</a:t>
            </a:r>
            <a:endParaRPr lang="en-US" sz="11000" dirty="0"/>
          </a:p>
        </p:txBody>
      </p:sp>
      <p:sp>
        <p:nvSpPr>
          <p:cNvPr id="5" name="Text 3"/>
          <p:cNvSpPr/>
          <p:nvPr/>
        </p:nvSpPr>
        <p:spPr>
          <a:xfrm>
            <a:off x="457200" y="3931920"/>
            <a:ext cx="11247120" cy="548640"/>
          </a:xfrm>
          <a:prstGeom prst="rect">
            <a:avLst/>
          </a:prstGeom>
          <a:noFill/>
          <a:ln/>
        </p:spPr>
        <p:txBody>
          <a:bodyPr wrap="square" lIns="0" tIns="0" rIns="0" bIns="0" rtlCol="0" anchor="ctr"/>
          <a:lstStyle/>
          <a:p>
            <a:pPr algn="ctr" indent="0" marL="0">
              <a:buNone/>
            </a:pPr>
            <a:r>
              <a:rPr lang="en-US" sz="2200" b="1" dirty="0">
                <a:solidFill>
                  <a:srgbClr val="F96167"/>
                </a:solidFill>
                <a:latin typeface="Calibri" pitchFamily="34" charset="0"/>
                <a:ea typeface="Calibri" pitchFamily="34" charset="-122"/>
                <a:cs typeface="Calibri" pitchFamily="34" charset="-120"/>
              </a:rPr>
              <a:t>Failure rate observed in production at frontier scale</a:t>
            </a:r>
            <a:endParaRPr lang="en-US" sz="2200" dirty="0"/>
          </a:p>
        </p:txBody>
      </p:sp>
      <p:sp>
        <p:nvSpPr>
          <p:cNvPr id="6" name="Text 4"/>
          <p:cNvSpPr/>
          <p:nvPr/>
        </p:nvSpPr>
        <p:spPr>
          <a:xfrm>
            <a:off x="1371600" y="4754880"/>
            <a:ext cx="9418320" cy="1645920"/>
          </a:xfrm>
          <a:prstGeom prst="rect">
            <a:avLst/>
          </a:prstGeom>
          <a:noFill/>
          <a:ln/>
        </p:spPr>
        <p:txBody>
          <a:bodyPr wrap="square" lIns="0" tIns="0" rIns="0" bIns="0" rtlCol="0" anchor="t"/>
          <a:lstStyle/>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419 unexpected interruptions in 54 days on 16,000 GPUs (Llama 3 training).</a:t>
            </a:r>
            <a:endParaRPr lang="en-US" sz="1600" dirty="0"/>
          </a:p>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Roughly 1 failure per 50,000 GPU-hours.</a:t>
            </a:r>
            <a:endParaRPr lang="en-US" sz="1600" dirty="0"/>
          </a:p>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A single 8-GPU node running for a year ≈ 70,000+ GPU-hours.</a:t>
            </a:r>
            <a:endParaRPr lang="en-US" sz="1600" dirty="0"/>
          </a:p>
          <a:p>
            <a:pPr algn="ctr" indent="0" marL="0">
              <a:spcAft>
                <a:spcPts val="800"/>
              </a:spcAft>
              <a:buNone/>
            </a:pPr>
            <a:r>
              <a:rPr lang="en-US" sz="1600" dirty="0">
                <a:solidFill>
                  <a:srgbClr val="1F2937"/>
                </a:solidFill>
                <a:latin typeface="Calibri" pitchFamily="34" charset="0"/>
                <a:ea typeface="Calibri" pitchFamily="34" charset="-122"/>
                <a:cs typeface="Calibri" pitchFamily="34" charset="-120"/>
              </a:rPr>
              <a:t>Build for failure. It's the default.</a:t>
            </a:r>
            <a:endParaRPr lang="en-US" sz="16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Multi-cloud postures</a:t>
            </a:r>
            <a:endParaRPr lang="en-US" sz="3000" dirty="0"/>
          </a:p>
        </p:txBody>
      </p:sp>
      <p:sp>
        <p:nvSpPr>
          <p:cNvPr id="4" name="Shape 2"/>
          <p:cNvSpPr/>
          <p:nvPr/>
        </p:nvSpPr>
        <p:spPr>
          <a:xfrm>
            <a:off x="640080" y="1371600"/>
            <a:ext cx="5349240" cy="4937760"/>
          </a:xfrm>
          <a:prstGeom prst="rect">
            <a:avLst/>
          </a:prstGeom>
          <a:solidFill>
            <a:srgbClr val="F8FAFC"/>
          </a:solidFill>
          <a:ln w="12700">
            <a:solidFill>
              <a:srgbClr val="CADCFC"/>
            </a:solidFill>
            <a:prstDash val="solid"/>
          </a:ln>
        </p:spPr>
      </p:sp>
      <p:sp>
        <p:nvSpPr>
          <p:cNvPr id="5" name="Text 3"/>
          <p:cNvSpPr/>
          <p:nvPr/>
        </p:nvSpPr>
        <p:spPr>
          <a:xfrm>
            <a:off x="914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Active-active</a:t>
            </a:r>
            <a:endParaRPr lang="en-US" sz="2000" dirty="0"/>
          </a:p>
        </p:txBody>
      </p:sp>
      <p:sp>
        <p:nvSpPr>
          <p:cNvPr id="6" name="Text 4"/>
          <p:cNvSpPr/>
          <p:nvPr/>
        </p:nvSpPr>
        <p:spPr>
          <a:xfrm>
            <a:off x="914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Multiple regions serve live traffic at once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Failures transparent to users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Higher cost, more complexity</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Right for global consumer chat apps</a:t>
            </a:r>
            <a:endParaRPr lang="en-US" sz="1600" dirty="0"/>
          </a:p>
        </p:txBody>
      </p:sp>
      <p:sp>
        <p:nvSpPr>
          <p:cNvPr id="7" name="Shape 5"/>
          <p:cNvSpPr/>
          <p:nvPr/>
        </p:nvSpPr>
        <p:spPr>
          <a:xfrm>
            <a:off x="6355080" y="1371600"/>
            <a:ext cx="5349240" cy="4937760"/>
          </a:xfrm>
          <a:prstGeom prst="rect">
            <a:avLst/>
          </a:prstGeom>
          <a:solidFill>
            <a:srgbClr val="F8FAFC"/>
          </a:solidFill>
          <a:ln w="12700">
            <a:solidFill>
              <a:srgbClr val="CADCFC"/>
            </a:solidFill>
            <a:prstDash val="solid"/>
          </a:ln>
        </p:spPr>
      </p:sp>
      <p:sp>
        <p:nvSpPr>
          <p:cNvPr id="8" name="Text 6"/>
          <p:cNvSpPr/>
          <p:nvPr/>
        </p:nvSpPr>
        <p:spPr>
          <a:xfrm>
            <a:off x="6629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Active-passive</a:t>
            </a:r>
            <a:endParaRPr lang="en-US" sz="2000" dirty="0"/>
          </a:p>
        </p:txBody>
      </p:sp>
      <p:sp>
        <p:nvSpPr>
          <p:cNvPr id="9" name="Text 7"/>
          <p:cNvSpPr/>
          <p:nvPr/>
        </p:nvSpPr>
        <p:spPr>
          <a:xfrm>
            <a:off x="6629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Hot standby idle until failover</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Failover takes seconds-to-minutes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Lower cost</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Right for internal / compliance-critical work</a:t>
            </a:r>
            <a:endParaRPr lang="en-US" sz="1600" dirty="0"/>
          </a:p>
        </p:txBody>
      </p:sp>
      <p:sp>
        <p:nvSpPr>
          <p:cNvPr id="10" name="Text 8"/>
          <p:cNvSpPr/>
          <p:nvPr/>
        </p:nvSpPr>
        <p:spPr>
          <a:xfrm>
            <a:off x="640080" y="6446520"/>
            <a:ext cx="110642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GPU procurement: reserved (long-term discount) + on-demand + spot (preemptible). Most production mixes all three.</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Deployment strategies</a:t>
            </a:r>
            <a:endParaRPr lang="en-US" sz="3000" dirty="0"/>
          </a:p>
        </p:txBody>
      </p:sp>
      <p:sp>
        <p:nvSpPr>
          <p:cNvPr id="4" name="Shape 2"/>
          <p:cNvSpPr/>
          <p:nvPr/>
        </p:nvSpPr>
        <p:spPr>
          <a:xfrm>
            <a:off x="640080" y="1371600"/>
            <a:ext cx="5349240" cy="4937760"/>
          </a:xfrm>
          <a:prstGeom prst="rect">
            <a:avLst/>
          </a:prstGeom>
          <a:solidFill>
            <a:srgbClr val="F8FAFC"/>
          </a:solidFill>
          <a:ln w="12700">
            <a:solidFill>
              <a:srgbClr val="CADCFC"/>
            </a:solidFill>
            <a:prstDash val="solid"/>
          </a:ln>
        </p:spPr>
      </p:sp>
      <p:sp>
        <p:nvSpPr>
          <p:cNvPr id="5" name="Text 3"/>
          <p:cNvSpPr/>
          <p:nvPr/>
        </p:nvSpPr>
        <p:spPr>
          <a:xfrm>
            <a:off x="914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Blue-green</a:t>
            </a:r>
            <a:endParaRPr lang="en-US" sz="2000" dirty="0"/>
          </a:p>
        </p:txBody>
      </p:sp>
      <p:sp>
        <p:nvSpPr>
          <p:cNvPr id="6" name="Text 4"/>
          <p:cNvSpPr/>
          <p:nvPr/>
        </p:nvSpPr>
        <p:spPr>
          <a:xfrm>
            <a:off x="914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Two identical environments, cut over fully</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Doubles GPU spend during cutover</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Doesn't scale for inference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Classic for stateless web apps</a:t>
            </a:r>
            <a:endParaRPr lang="en-US" sz="1600" dirty="0"/>
          </a:p>
        </p:txBody>
      </p:sp>
      <p:sp>
        <p:nvSpPr>
          <p:cNvPr id="7" name="Shape 5"/>
          <p:cNvSpPr/>
          <p:nvPr/>
        </p:nvSpPr>
        <p:spPr>
          <a:xfrm>
            <a:off x="6355080" y="1371600"/>
            <a:ext cx="5349240" cy="4937760"/>
          </a:xfrm>
          <a:prstGeom prst="rect">
            <a:avLst/>
          </a:prstGeom>
          <a:solidFill>
            <a:srgbClr val="F8FAFC"/>
          </a:solidFill>
          <a:ln w="12700">
            <a:solidFill>
              <a:srgbClr val="CADCFC"/>
            </a:solidFill>
            <a:prstDash val="solid"/>
          </a:ln>
        </p:spPr>
      </p:sp>
      <p:sp>
        <p:nvSpPr>
          <p:cNvPr id="8" name="Text 6"/>
          <p:cNvSpPr/>
          <p:nvPr/>
        </p:nvSpPr>
        <p:spPr>
          <a:xfrm>
            <a:off x="6629400" y="1554480"/>
            <a:ext cx="4800600" cy="457200"/>
          </a:xfrm>
          <a:prstGeom prst="rect">
            <a:avLst/>
          </a:prstGeom>
          <a:noFill/>
          <a:ln/>
        </p:spPr>
        <p:txBody>
          <a:bodyPr wrap="square" lIns="0" tIns="0" rIns="0" bIns="0" rtlCol="0" anchor="ctr"/>
          <a:lstStyle/>
          <a:p>
            <a:pPr indent="0" marL="0">
              <a:buNone/>
            </a:pPr>
            <a:r>
              <a:rPr lang="en-US" sz="2000" b="1" dirty="0">
                <a:solidFill>
                  <a:srgbClr val="1E2761"/>
                </a:solidFill>
                <a:latin typeface="Calibri" pitchFamily="34" charset="0"/>
                <a:ea typeface="Calibri" pitchFamily="34" charset="-122"/>
                <a:cs typeface="Calibri" pitchFamily="34" charset="-120"/>
              </a:rPr>
              <a:t>Canary (preferred for inference)</a:t>
            </a:r>
            <a:endParaRPr lang="en-US" sz="2000" dirty="0"/>
          </a:p>
        </p:txBody>
      </p:sp>
      <p:sp>
        <p:nvSpPr>
          <p:cNvPr id="9" name="Text 7"/>
          <p:cNvSpPr/>
          <p:nvPr/>
        </p:nvSpPr>
        <p:spPr>
          <a:xfrm>
            <a:off x="6629400" y="2103120"/>
            <a:ext cx="4800600" cy="40233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Route small % to new deployment first</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Autoscaling shrinks old as traffic moves</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Incremental cost is manageable</a:t>
            </a:r>
            <a:endParaRPr lang="en-US" sz="1600" dirty="0"/>
          </a:p>
          <a:p>
            <a:pPr marL="3429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Easy rollback if metrics regress</a:t>
            </a:r>
            <a:endParaRPr lang="en-US" sz="1600" dirty="0"/>
          </a:p>
        </p:txBody>
      </p:sp>
      <p:sp>
        <p:nvSpPr>
          <p:cNvPr id="10" name="Text 8"/>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Cost: dedicated vs. per-token</a:t>
            </a:r>
            <a:endParaRPr lang="en-US" sz="3000" dirty="0"/>
          </a:p>
        </p:txBody>
      </p:sp>
      <p:sp>
        <p:nvSpPr>
          <p:cNvPr id="4" name="Shape 2"/>
          <p:cNvSpPr/>
          <p:nvPr/>
        </p:nvSpPr>
        <p:spPr>
          <a:xfrm>
            <a:off x="1371600" y="1463040"/>
            <a:ext cx="9418320" cy="2377440"/>
          </a:xfrm>
          <a:prstGeom prst="rect">
            <a:avLst/>
          </a:prstGeom>
          <a:solidFill>
            <a:srgbClr val="1E2761"/>
          </a:solidFill>
          <a:ln w="12700">
            <a:solidFill>
              <a:srgbClr val="1E2761"/>
            </a:solidFill>
            <a:prstDash val="solid"/>
          </a:ln>
        </p:spPr>
      </p:sp>
      <p:sp>
        <p:nvSpPr>
          <p:cNvPr id="5" name="Text 3"/>
          <p:cNvSpPr/>
          <p:nvPr/>
        </p:nvSpPr>
        <p:spPr>
          <a:xfrm>
            <a:off x="1554480" y="1600200"/>
            <a:ext cx="9052560" cy="2103120"/>
          </a:xfrm>
          <a:prstGeom prst="rect">
            <a:avLst/>
          </a:prstGeom>
          <a:noFill/>
          <a:ln/>
        </p:spPr>
        <p:txBody>
          <a:bodyPr wrap="square" lIns="0" tIns="0" rIns="0" bIns="0" rtlCol="0" anchor="ctr"/>
          <a:lstStyle/>
          <a:p>
            <a:pPr algn="l" indent="0" marL="0">
              <a:buNone/>
            </a:pPr>
            <a:r>
              <a:rPr lang="en-US" sz="2000" dirty="0">
                <a:solidFill>
                  <a:srgbClr val="FFFFFF"/>
                </a:solidFill>
                <a:latin typeface="Courier New" pitchFamily="34" charset="0"/>
                <a:ea typeface="Courier New" pitchFamily="34" charset="-122"/>
                <a:cs typeface="Courier New" pitchFamily="34" charset="-120"/>
              </a:rPr>
              <a:t>Per-token (1B input + 500M output):</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  1B × $1.25/M + 500M × $10/M = $6,250</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Dedicated (1,600 GPU-hours × $3.50/hr):</a:t>
            </a: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  = $5,600</a:t>
            </a:r>
            <a:endParaRPr lang="en-US" sz="2000" dirty="0"/>
          </a:p>
          <a:p>
            <a:pPr algn="l" indent="0" marL="0">
              <a:buNone/>
            </a:pPr>
            <a:endParaRPr lang="en-US" sz="2000" dirty="0"/>
          </a:p>
          <a:p>
            <a:pPr algn="l" indent="0" marL="0">
              <a:buNone/>
            </a:pPr>
            <a:r>
              <a:rPr lang="en-US" sz="2000" dirty="0">
                <a:solidFill>
                  <a:srgbClr val="FFFFFF"/>
                </a:solidFill>
                <a:latin typeface="Courier New" pitchFamily="34" charset="0"/>
                <a:ea typeface="Courier New" pitchFamily="34" charset="-122"/>
                <a:cs typeface="Courier New" pitchFamily="34" charset="-120"/>
              </a:rPr>
              <a:t>Savings: $650/month (~10%) — BEFORE engineering cost</a:t>
            </a:r>
            <a:endParaRPr lang="en-US" sz="2000" dirty="0"/>
          </a:p>
        </p:txBody>
      </p:sp>
      <p:sp>
        <p:nvSpPr>
          <p:cNvPr id="6" name="Text 4"/>
          <p:cNvSpPr/>
          <p:nvPr/>
        </p:nvSpPr>
        <p:spPr>
          <a:xfrm>
            <a:off x="640080" y="4114800"/>
            <a:ext cx="11064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Use ≥1 week time horizons to smooth variance.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Add engineering time + on-call TCO to the dedicated side.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Translate per-token to a total dollar amount and compare like-for-like.</a:t>
            </a:r>
            <a:endParaRPr lang="en-US" sz="16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Don't forget the client</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b="1" dirty="0">
                <a:solidFill>
                  <a:srgbClr val="F96167"/>
                </a:solidFill>
                <a:latin typeface="Calibri" pitchFamily="34" charset="0"/>
                <a:ea typeface="Calibri" pitchFamily="34" charset="-122"/>
                <a:cs typeface="Calibri" pitchFamily="34" charset="-120"/>
              </a:rPr>
              <a:t>TLS handshake takes ~30 ms — that's 10%+ of a 300 ms P95 budget.</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Reuse sessions. The OpenAI SDK does this silently — your custom client must too.</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Async inference for throughput-not-latency workloads (bulk processing, embedding backfills).</a:t>
            </a:r>
            <a:endParaRPr lang="en-US" sz="1800" dirty="0"/>
          </a:p>
          <a:p>
            <a:pPr marL="342900" indent="-342900">
              <a:spcAft>
                <a:spcPts val="600"/>
              </a:spcAft>
              <a:buSzPct val="100000"/>
              <a:buChar char="●"/>
            </a:pPr>
            <a:r>
              <a:rPr lang="en-US" sz="1800" b="1" dirty="0">
                <a:solidFill>
                  <a:srgbClr val="1E2761"/>
                </a:solidFill>
                <a:latin typeface="Calibri" pitchFamily="34" charset="0"/>
                <a:ea typeface="Calibri" pitchFamily="34" charset="-122"/>
                <a:cs typeface="Calibri" pitchFamily="34" charset="-120"/>
              </a:rPr>
              <a:t>Streaming protocols:</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LLMs over HTTP streaming is enough.</a:t>
            </a:r>
            <a:endParaRPr lang="en-US" sz="1800" dirty="0"/>
          </a:p>
          <a:p>
            <a:pPr lvl="1" marL="6858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Voice / video: WebSockets (unstructured) or gRPC (schema-enforced).</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96167"/>
          </a:solidFill>
          <a:ln w="12700">
            <a:solidFill>
              <a:srgbClr val="F96167"/>
            </a:solidFill>
            <a:prstDash val="solid"/>
          </a:ln>
        </p:spPr>
      </p:sp>
      <p:sp>
        <p:nvSpPr>
          <p:cNvPr id="3" name="Text 1"/>
          <p:cNvSpPr/>
          <p:nvPr/>
        </p:nvSpPr>
        <p:spPr>
          <a:xfrm>
            <a:off x="640080" y="320040"/>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Recap — Lecture 10</a:t>
            </a:r>
            <a:endParaRPr lang="en-US" sz="3000" dirty="0"/>
          </a:p>
        </p:txBody>
      </p:sp>
      <p:sp>
        <p:nvSpPr>
          <p:cNvPr id="4" name="Text 2"/>
          <p:cNvSpPr/>
          <p:nvPr/>
        </p:nvSpPr>
        <p:spPr>
          <a:xfrm>
            <a:off x="640080" y="1280160"/>
            <a:ext cx="11064240" cy="51206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Containers bundle the stack. Pin versions; rebuild on stable releases.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Autoscale on traffic AND utilization. Concurrency must match batch size.</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Cold starts: slim image, weights nearby, cache compiled engines.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Build for failure (1 per 50K GPU-hours). Multi-cloud active-active for global consumer.</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Canary deployment beats blue-green for GPU workloads.</a:t>
            </a:r>
            <a:endParaRPr lang="en-US" sz="1800" dirty="0"/>
          </a:p>
          <a:p>
            <a:pPr marL="342900" indent="-342900">
              <a:spcAft>
                <a:spcPts val="600"/>
              </a:spcAft>
              <a:buSzPct val="100000"/>
              <a:buChar char="●"/>
            </a:pPr>
            <a:r>
              <a:rPr lang="en-US" sz="1800" dirty="0">
                <a:solidFill>
                  <a:srgbClr val="1F2937"/>
                </a:solidFill>
                <a:latin typeface="Calibri" pitchFamily="34" charset="0"/>
                <a:ea typeface="Calibri" pitchFamily="34" charset="-122"/>
                <a:cs typeface="Calibri" pitchFamily="34" charset="-120"/>
              </a:rPr>
              <a:t>Client overhead is real — reuse sessions, stream when it matters.</a:t>
            </a:r>
            <a:endParaRPr lang="en-US" sz="1800" dirty="0"/>
          </a:p>
        </p:txBody>
      </p:sp>
      <p:sp>
        <p:nvSpPr>
          <p:cNvPr id="5" name="Text 3"/>
          <p:cNvSpPr/>
          <p:nvPr/>
        </p:nvSpPr>
        <p:spPr>
          <a:xfrm>
            <a:off x="640080" y="6446520"/>
            <a:ext cx="11064240" cy="274320"/>
          </a:xfrm>
          <a:prstGeom prst="rect">
            <a:avLst/>
          </a:prstGeom>
          <a:noFill/>
          <a:ln/>
        </p:spPr>
        <p:txBody>
          <a:bodyPr wrap="square" lIns="0" tIns="0" rIns="0" bIns="0" rtlCol="0" anchor="ctr"/>
          <a:lstStyle/>
          <a:p>
            <a:pPr indent="0" marL="0">
              <a:buNone/>
            </a:pP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F96167"/>
          </a:solidFill>
          <a:ln w="12700">
            <a:solidFill>
              <a:srgbClr val="F96167"/>
            </a:solidFill>
            <a:prstDash val="solid"/>
          </a:ln>
        </p:spPr>
      </p:sp>
      <p:sp>
        <p:nvSpPr>
          <p:cNvPr id="3" name="Text 1"/>
          <p:cNvSpPr/>
          <p:nvPr/>
        </p:nvSpPr>
        <p:spPr>
          <a:xfrm>
            <a:off x="822960" y="2286000"/>
            <a:ext cx="10515600" cy="1097280"/>
          </a:xfrm>
          <a:prstGeom prst="rect">
            <a:avLst/>
          </a:prstGeom>
          <a:noFill/>
          <a:ln/>
        </p:spPr>
        <p:txBody>
          <a:bodyPr wrap="square" lIns="0" tIns="0" rIns="0" bIns="0"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THANK YOU</a:t>
            </a:r>
            <a:endParaRPr lang="en-US" sz="7200" dirty="0"/>
          </a:p>
        </p:txBody>
      </p:sp>
      <p:sp>
        <p:nvSpPr>
          <p:cNvPr id="4" name="Text 2"/>
          <p:cNvSpPr/>
          <p:nvPr/>
        </p:nvSpPr>
        <p:spPr>
          <a:xfrm>
            <a:off x="822960" y="3566160"/>
            <a:ext cx="10515600" cy="548640"/>
          </a:xfrm>
          <a:prstGeom prst="rect">
            <a:avLst/>
          </a:prstGeom>
          <a:noFill/>
          <a:ln/>
        </p:spPr>
        <p:txBody>
          <a:bodyPr wrap="square" lIns="0" tIns="0" rIns="0" bIns="0"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You're now ready to dig into the book and the open-model ecosystem.</a:t>
            </a:r>
            <a:endParaRPr lang="en-US" sz="2200" dirty="0"/>
          </a:p>
        </p:txBody>
      </p:sp>
      <p:sp>
        <p:nvSpPr>
          <p:cNvPr id="5" name="Text 3"/>
          <p:cNvSpPr/>
          <p:nvPr/>
        </p:nvSpPr>
        <p:spPr>
          <a:xfrm>
            <a:off x="822960" y="5029200"/>
            <a:ext cx="1051560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Next steps:  </a:t>
            </a:r>
            <a:pPr indent="0" marL="0">
              <a:buNone/>
            </a:pPr>
            <a:r>
              <a:rPr lang="en-US" sz="1600" dirty="0">
                <a:solidFill>
                  <a:srgbClr val="CADCFC"/>
                </a:solidFill>
                <a:latin typeface="Calibri" pitchFamily="34" charset="0"/>
                <a:ea typeface="Calibri" pitchFamily="34" charset="-122"/>
                <a:cs typeface="Calibri" pitchFamily="34" charset="-120"/>
              </a:rPr>
              <a:t>explore Hugging Face · benchmark a model · stand up vLLM on a rented GPU · contribute to an open inference engine.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Inference Engineering — Course Lectures</dc:title>
  <dc:subject>PptxGenJS Presentation</dc:subject>
  <dc:creator>Inference Engineering Course</dc:creator>
  <cp:lastModifiedBy>Inference Engineering Course</cp:lastModifiedBy>
  <cp:revision>1</cp:revision>
  <dcterms:created xsi:type="dcterms:W3CDTF">2026-05-18T05:03:33Z</dcterms:created>
  <dcterms:modified xsi:type="dcterms:W3CDTF">2026-05-18T05:03:33Z</dcterms:modified>
</cp:coreProperties>
</file>