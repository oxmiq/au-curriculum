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754880"/>
            <a:ext cx="5486400" cy="5486400"/>
          </a:xfrm>
          <a:prstGeom prst="ellipse">
            <a:avLst/>
          </a:prstGeom>
          <a:solidFill>
            <a:srgbClr val="3D1A6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914400"/>
            <a:ext cx="5029200" cy="5029200"/>
          </a:xfrm>
          <a:prstGeom prst="ellipse">
            <a:avLst/>
          </a:prstGeom>
          <a:solidFill>
            <a:srgbClr val="6B2EC1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5-Layer Stack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Introductory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 • One course • From first principles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Social Capital's “A Primer on AI Agents” (2026), with primary-source references.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3D1A66"/>
          </a:solidFill>
          <a:ln w="12700">
            <a:solidFill>
              <a:srgbClr val="3D1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closed loop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0" y="2423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explosion and what changed.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3017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memory, knowledge: MoE, MLA, RAG.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ReAct loops, protocols (MCP, A2A), observability.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machine-checkable security.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800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4800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plane: which model, which tool, which agent.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23360" y="5394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completed task, weak points, the frontier.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3D1A66"/>
          </a:solidFill>
          <a:ln w="12700">
            <a:solidFill>
              <a:srgbClr val="3D1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deck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the Student Guide, Lesson Plan, and Worksheets.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73152" cy="32004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session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minutes • 5–7 slides each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discussion built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worksheet per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drives every concept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56032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560320"/>
            <a:ext cx="73152" cy="32004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students leave with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5-layer mental model of agent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vocabulary: MoE, RAG, ReAct, MCP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weak points current agents have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view on where value accrues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 The Agentic Explosion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why the loop is the agent.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calculator to strategist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73152" cy="356616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one-shot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request as a fresh start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design — no actions on the world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but limited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73152" cy="35661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Plan → Act → Observe → Repeat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goal, picks tools, takes 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the result and revises the plan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until the goal is reached, or declared unreachable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the agent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 from Module 0, remember this: the loop is the structural property that separates an agent from a chatbot.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Why Now?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capabilities, suddenly arriving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progress was steady but incremental — until the last four years.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73152" cy="15087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34640"/>
            <a:ext cx="914400" cy="9144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Foundational models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291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giants that reason in natural language.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560320"/>
            <a:ext cx="73152" cy="15087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834640"/>
            <a:ext cx="914400" cy="9144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architectures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MoE, MLA, and others make models cheaper to run.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51960"/>
            <a:ext cx="73152" cy="15087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914400" cy="9144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28800" y="4983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thinking (CoT, inference-time models like o1).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25196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51960"/>
            <a:ext cx="73152" cy="15087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4526280"/>
            <a:ext cx="914400" cy="91440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526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58952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+ correction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89520" y="4983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tool use lets the model take and verify steps.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into a closed loop → AI agents.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Why Now?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(and a health warning)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well-documented; some are Social Capital's projections.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1463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28.6M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inside enterprises today (IDC, 2025)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377440"/>
            <a:ext cx="73152" cy="1463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560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projected by 2030 (IDC)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69080"/>
            <a:ext cx="73152" cy="1463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ARR by May 2026 (estimated)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069080"/>
            <a:ext cx="73152" cy="1463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~$5B → $236B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9224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infra market: 2024 → 2034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FF6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revenue and growth forecasts are the primer's estimates. The institutional facts (IDC's survey, coding-agent adoption) are well-documented; the precise figures are not audited.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Why Now?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Layer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memory, and knowledge — the three pillars.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of agentic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fixes a distinct weakness in the original LLMs.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73152" cy="3657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MoE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less inference compute (Mixtral)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377440"/>
            <a:ext cx="73152" cy="3657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/ KV-cache compression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5–13× compression (DeepSeek-V2)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23774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377440"/>
            <a:ext cx="73152" cy="3657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392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GraphRAG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staleness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cited, auditable answers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substitutes for another. The intelligence layer is all three together.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 of Experts: don't fire the whole brain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router activates only a few specialists per token.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LLMs: every parameter fires for every query.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time used the same compute as writing code.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borrows from neuroscience: different regions for different tasks.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picks a small subset of expert sub-networks per token.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8x7B: ~47B total params, but only ~13B activate per token.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72% reduction in active inference compute vs. dense equivalent.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2377440"/>
            <a:ext cx="1280160" cy="128016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4023360"/>
            <a:ext cx="868680" cy="73152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40233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40233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0233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40233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40233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332720" y="4023360"/>
            <a:ext cx="868680" cy="73152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0" y="40233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49377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937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49377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937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0" y="49377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4937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32720" y="4937760"/>
            <a:ext cx="868680" cy="731520"/>
          </a:xfrm>
          <a:prstGeom prst="rect">
            <a:avLst/>
          </a:prstGeom>
          <a:solidFill>
            <a:srgbClr val="E5DCEE"/>
          </a:solidFill>
          <a:ln w="12700">
            <a:solidFill>
              <a:srgbClr val="C0B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4937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0" y="5943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 experts active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Generation (RAG)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external memory for a frozen model.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snapshots. The world keeps changing.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answering, the agent retrieves relevant passages from a knowledge base and injects them into the prompt.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are auditable — critical for enterprise use.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(2M–10M tokens) absorbs some of RAG's use case…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enterprise corpora run to billions or trillions of tokens. Cost, latency, freshness, auditability still favour retrieval.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= retrieval over a graph of connected facts.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468880"/>
            <a:ext cx="4114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2587752"/>
            <a:ext cx="310896" cy="31089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72600" y="3017520"/>
            <a:ext cx="0" cy="164592"/>
          </a:xfrm>
          <a:prstGeom prst="line">
            <a:avLst/>
          </a:prstGeom>
          <a:noFill/>
          <a:ln w="25400">
            <a:solidFill>
              <a:srgbClr val="6B2E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3182112"/>
            <a:ext cx="4114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3300984"/>
            <a:ext cx="310896" cy="31089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3182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72600" y="3730752"/>
            <a:ext cx="0" cy="164592"/>
          </a:xfrm>
          <a:prstGeom prst="line">
            <a:avLst/>
          </a:prstGeom>
          <a:noFill/>
          <a:ln w="25400">
            <a:solidFill>
              <a:srgbClr val="6B2E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895344"/>
            <a:ext cx="4114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4014216"/>
            <a:ext cx="310896" cy="31089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560" y="38953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vector DB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72600" y="4443984"/>
            <a:ext cx="0" cy="164592"/>
          </a:xfrm>
          <a:prstGeom prst="line">
            <a:avLst/>
          </a:prstGeom>
          <a:noFill/>
          <a:ln w="25400">
            <a:solidFill>
              <a:srgbClr val="6B2E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4608576"/>
            <a:ext cx="4114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4727448"/>
            <a:ext cx="310896" cy="31089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4608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72600" y="5157216"/>
            <a:ext cx="0" cy="164592"/>
          </a:xfrm>
          <a:prstGeom prst="line">
            <a:avLst/>
          </a:prstGeom>
          <a:noFill/>
          <a:ln w="25400">
            <a:solidFill>
              <a:srgbClr val="6B2E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5321808"/>
            <a:ext cx="4114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5440680"/>
            <a:ext cx="310896" cy="31089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5321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— the intelligence layer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1247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73152" cy="32918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0698480" cy="0"/>
          </a:xfrm>
          <a:prstGeom prst="line">
            <a:avLst/>
          </a:prstGeom>
          <a:noFill/>
          <a:ln w="12700">
            <a:solidFill>
              <a:srgbClr val="6B2E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MoE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efficiency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75–95% fewer compute ops per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/ KV cache compression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memory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5–13× compression (DeepSeek-V2)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GraphRAG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4754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staleness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latency; auditable citations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thinking becomes doing.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Layer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thinking to doing: tools, ReAct, protocols.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execution gap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to do ≠ doing it. The harness bridges the gap.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73152" cy="256032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output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"Search flights to BER"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"Email Tom the agenda"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npm test"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  Execution gap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80960" y="23774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377440"/>
            <a:ext cx="73152" cy="256032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29260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shell, file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Messaging, payments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closes the gap: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5532120"/>
            <a:ext cx="1737360" cy="64008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5532120"/>
            <a:ext cx="1737360" cy="64008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5532120"/>
            <a:ext cx="1737360" cy="64008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52560" y="5532120"/>
            <a:ext cx="1737360" cy="64008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Action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ReAct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al., ICLR 2023 — the canonical agent architecture.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0" y="2194560"/>
            <a:ext cx="1280160" cy="5486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3840480"/>
            <a:ext cx="1280160" cy="5486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5486400"/>
            <a:ext cx="1280160" cy="5486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5486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840480"/>
            <a:ext cx="1280160" cy="5486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5661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2E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566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— read inputs, conversation, sensor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decide the next step given the goal.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call a tool through the agent harness.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— read the tool's output.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feed the observation back to the planner.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loop, an agent can't recover from errors, adapt mid-task, or chain complex actions.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Action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protocols, three layers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talk to tools and to each other.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solidFill>
            <a:srgbClr val="3D1A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606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between agents (delegation, voting, hand-off).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10058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(Anthropic, Nov 2024)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794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“USB-C for AI.” Any compliant client talks to any compliant tool.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81360" cy="1005840"/>
          </a:xfrm>
          <a:prstGeom prst="rect">
            <a:avLst/>
          </a:prstGeom>
          <a:solidFill>
            <a:srgbClr val="9C7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4983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foundation. Built by each company for its own engineers.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can flow through all three: A2A coordinates → MCP reaches a tool → which wraps a REST API.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Action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 is the most expensive kind. Three metrics define agent health.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73152" cy="31089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completion 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actually finish the job?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560320"/>
            <a:ext cx="73152" cy="31089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did a human have to step in?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56032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560320"/>
            <a:ext cx="73152" cy="310896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50392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latency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between key decision and execution?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harness, not the model. Without these, silent failure stays silent until a customer complains.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Action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Layer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is permitted to do — enforced in code.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ambient AI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agent is an attack surface that never sleeps.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" cy="365760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software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when invoked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each input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narrow and explicit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surfaces are bounded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468880"/>
            <a:ext cx="73152" cy="3657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 AI 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continuously, multi-channel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inputs the user never sees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accumulating permissions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internal decision chains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— and EchoLeak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instructions hidden in content the agent reads.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user types instructions designed to override system policies.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attacker hides instructions in a document, email, or webpage.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(CVE-2025-32711, June 2025): zero-click exploit of Microsoft 365 Copilot.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crafted email could exfiltrate emails, OneDrive files, SharePoint docs, and Teams chats — silently, with no user interaction.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publicly documented prompt-injection data exfiltration in a production LLM system.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server-side same month — but the class of bug is here to stay.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2468880"/>
            <a:ext cx="2651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2926080"/>
            <a:ext cx="2651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3383280"/>
            <a:ext cx="2651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E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4114800"/>
            <a:ext cx="2651760" cy="73152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114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INSTRUCTIONS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AGENT CONTEXT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074920"/>
            <a:ext cx="26517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HIJACKED 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Machine-checkable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in code that runs before any action — regardless of what the model says.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Whitelisted tool permissions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operator-approved tools. Hidden instructions cannot expand the list.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37744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pre-validation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actions checked against a rulebook before they can run.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6052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Runtime-enforced constraints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applied by the runtime, regardless of the model's intent.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6052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Small, readable codebase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846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the security team can verify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a property of the architecture, not the model. Code is harder to argue with.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Orchestration Layer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plane: which model, which tool, which agent.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model, different value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orchestration decides between the user's request and the result.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handles which task (cheap vs. frontier).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get called and in what order.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gets carried forward.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retry, escalate, or hand off.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put a human in the loop.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2468880"/>
            <a:ext cx="4754880" cy="3383280"/>
          </a:xfrm>
          <a:prstGeom prst="rect">
            <a:avLst/>
          </a:prstGeom>
          <a:solidFill>
            <a:srgbClr val="1F1235"/>
          </a:solidFill>
          <a:ln w="12700">
            <a:solidFill>
              <a:srgbClr val="3D1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468880"/>
            <a:ext cx="73152" cy="3383280"/>
          </a:xfrm>
          <a:prstGeom prst="rect">
            <a:avLst/>
          </a:prstGeom>
          <a:solidFill>
            <a:srgbClr val="3D1A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C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models commoditize…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32461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 shifts to whoever coordinates them best.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approaches to orchestration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draw the line between harness, runtime, and orchestration in different places.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1280160" cy="365760"/>
          </a:xfrm>
          <a:prstGeom prst="rect">
            <a:avLst/>
          </a:prstGeom>
          <a:solidFill>
            <a:srgbClr val="6B2E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788920"/>
            <a:ext cx="128016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wires Claude into terminal, files, dev tools. Dev runs the session.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6032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24160" y="2788920"/>
            <a:ext cx="1280160" cy="365760"/>
          </a:xfrm>
          <a:prstGeom prst="rect">
            <a:avLst/>
          </a:prstGeom>
          <a:solidFill>
            <a:srgbClr val="6B2E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Non-developers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378440" y="2788920"/>
            <a:ext cx="128016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7844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Non-developers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with skills, MCP connectors, scheduling baked 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4572000"/>
            <a:ext cx="1280160" cy="365760"/>
          </a:xfrm>
          <a:prstGeom prst="rect">
            <a:avLst/>
          </a:prstGeom>
          <a:solidFill>
            <a:srgbClr val="6B2E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teams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4572000"/>
            <a:ext cx="128016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teams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cloud env per task; runs parallel agents; returns work.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3434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343400"/>
            <a:ext cx="73152" cy="155448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1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24160" y="4572000"/>
            <a:ext cx="1280160" cy="365760"/>
          </a:xfrm>
          <a:prstGeom prst="rect">
            <a:avLst/>
          </a:prstGeom>
          <a:solidFill>
            <a:srgbClr val="6B2E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4572000"/>
            <a:ext cx="128016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7844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harness; local runtime; pulls model into messaging platforms.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are a new programmable computer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Sequoia's framing — same shape, different center.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347472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computer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chip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interface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Windows / macOS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network, peripherals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377440"/>
            <a:ext cx="73152" cy="347472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(reasons)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interface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+ context window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APIs, files, the world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2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is the new processor; the harness is the new operating system."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 Layer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value, and what comes next.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per completed task, not per token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shape agent economics.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73152" cy="32004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→ per-token → per-task → per-outcome. Salesforce Headless 360 (Apr 2026) is a public turning point.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468880"/>
            <a:ext cx="73152" cy="32004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vs. buy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977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hardware is high upfront, low per task. Renting cloud APIs is the reverse. Most serious deployments run both.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46888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468880"/>
            <a:ext cx="73152" cy="3200400"/>
          </a:xfrm>
          <a:prstGeom prst="rect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50392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costs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977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human cleanup ($50–$200/hr), idle compute, restart-from-step-1. Often dwarf the headline token cost.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Economics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agents work now: deflationary inference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million tokens has fallen ~1,000× in three years.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E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~1,000×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inference, 2021 → 2024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468880"/>
            <a:ext cx="5760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468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(2021)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 / M tokens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291840"/>
            <a:ext cx="5760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launch (2023)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 / M tokens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4114800"/>
            <a:ext cx="5760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4114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GPT-4-class (2024)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0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~$0.30 / M tokens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4937760"/>
            <a:ext cx="5760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4937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frontier today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4937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1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Pennies / M tokens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FFF6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today's headline prices are subsidized. Expect rebalancing as the buildout matures.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Economics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agents break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weak points = four categories of infrastructure waiting to be built.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Long-horizon drift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across multi-step tasks. Anthropic data: 1,279 sessions with 50+ consecutive failures in a single month.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3774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wrong answers or silent abandonment. Agents often don't recognize they are in an edge case.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605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makes the always-on surface a permanent attack vector.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605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human cleanup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4846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 outages (Mar 2026): 120,000 lost orders, 1.6M website errors — followed by a 6-hour outage taking 99% of North American orders.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Economics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value accrue?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agent stack matures, value moves from raw model access to the systems that turn models into reliable work.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solidFill>
            <a:srgbClr val="2A1D44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labs capture value at the ceiling of capability.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2A1D44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337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ecosystems and protocols (MCP, A2A) become commodified infrastructure.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solidFill>
            <a:srgbClr val="2A1D44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need this. Hardware enforcement matters.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solidFill>
            <a:srgbClr val="2A1D44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plane. Likely a major value capture point.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2A1D44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Economics / Workflow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5120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owns the workflow chooses the model, routes the task, governs the action, measures the result — and improves the system.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 is the control point.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3D1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7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Economics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solidFill>
            <a:srgbClr val="3D1A66"/>
          </a:solidFill>
          <a:ln w="12700">
            <a:solidFill>
              <a:srgbClr val="3D1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foundational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28016" cy="128016"/>
          </a:xfrm>
          <a:prstGeom prst="ellipse">
            <a:avLst/>
          </a:prstGeom>
          <a:solidFill>
            <a:srgbClr val="6B2EC1"/>
          </a:solidFill>
          <a:ln w="12700">
            <a:solidFill>
              <a:srgbClr val="6B2E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should be able to take a defensible position by the end of the course.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is an AI agent different from a chatbot or static LLM?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components of an agent, and how do they fit together?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agents being deployed today, and where do they break?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6B2E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value accrue as the stack matures, and who controls it?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5D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— The 5-Layer Stack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3D1A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6B2EC1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something — or break something thoughtfully.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materials: Student Guide • Facilitator Lesson Plan • Module Worksheets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— The 5-Layer Stack</dc:title>
  <dc:subject>PptxGenJS Presentation</dc:subject>
  <dc:creator>AI Agents Course</dc:creator>
  <cp:lastModifiedBy>AI Agents Course</cp:lastModifiedBy>
  <cp:revision>1</cp:revision>
  <dcterms:created xsi:type="dcterms:W3CDTF">2026-05-19T07:34:16Z</dcterms:created>
  <dcterms:modified xsi:type="dcterms:W3CDTF">2026-05-19T07:34:16Z</dcterms:modified>
</cp:coreProperties>
</file>